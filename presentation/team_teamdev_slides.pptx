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ellefair"/>
      <p:regular r:id="rId201314"/>
    </p:embeddedFont>
    <p:embeddedFont>
      <p:font typeface="Host Grotesk Bold"/>
      <p:regular r:id="rId201315"/>
    </p:embeddedFont>
    <p:embeddedFont>
      <p:font typeface="Red Hat Text Bold"/>
      <p:regular r:id="rId201316"/>
    </p:embeddedFont>
    <p:embeddedFont>
      <p:font typeface="Red Hat Text"/>
      <p:regular r:id="rId201317"/>
    </p:embeddedFont>
    <p:embeddedFont>
      <p:font typeface="Space Mono"/>
      <p:regular r:id="rId201318"/>
    </p:embeddedFont>
    <p:embeddedFont>
      <p:font typeface="Space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Fig1" Type="http://schemas.openxmlformats.org/officeDocument/2006/relationships/image" Target="../media/fig_s2_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Fig1" Type="http://schemas.openxmlformats.org/officeDocument/2006/relationships/image" Target="../media/fig_s3_1.png"/><Relationship Id="rIdFig2" Type="http://schemas.openxmlformats.org/officeDocument/2006/relationships/image" Target="../media/fig_s3_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Fig1" Type="http://schemas.openxmlformats.org/officeDocument/2006/relationships/image" Target="../media/fig_s5_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Fig1" Type="http://schemas.openxmlformats.org/officeDocument/2006/relationships/image" Target="../media/fig_s6_1.png"/><Relationship Id="rIdFig2" Type="http://schemas.openxmlformats.org/officeDocument/2006/relationships/image" Target="../media/fig_s6_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Fig1" Type="http://schemas.openxmlformats.org/officeDocument/2006/relationships/image" Target="../media/fig_s9_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4715"/>
            <a:ext cx="691884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QIYAS AI HACKATHON #2 · EXECUTIVE TAKEAWAY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94370"/>
            <a:ext cx="6309262" cy="2080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Addis Ababa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Ride Demand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Forecasting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292277"/>
            <a:ext cx="691884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dependable, zone-hour forecast for 1–14 November 2025.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779937"/>
            <a:ext cx="2082053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21237"/>
            <a:ext cx="3078383" cy="141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Name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Abraham Gebeyehu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Bethelhem Legesse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Eden Kibret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Eleni Andualem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Feven Abebe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Surafel Solomon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364" y="4021237"/>
            <a:ext cx="3078482" cy="141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Student ID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qiyas-2026-004484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qiyas-2026-000286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qiyas-2026-000721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qiyas-2026-000054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qiyas-2026-003641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qiyas-2026-007128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585" y="5591175"/>
            <a:ext cx="6309262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Team teamdev · Qiyas / IADE AI Training Program, Addis Ababa University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33124" y="0"/>
            <a:ext cx="4358571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10" name="Text 8"/>
          <p:cNvSpPr/>
          <p:nvPr/>
        </p:nvSpPr>
        <p:spPr>
          <a:xfrm>
            <a:off x="8188715" y="2252861"/>
            <a:ext cx="40029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INPUT GRID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8715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88715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1112" y="3104257"/>
            <a:ext cx="8094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months of trips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55310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455310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55310" y="3104257"/>
            <a:ext cx="11141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hours × day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21905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21905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21905" y="3104257"/>
            <a:ext cx="11141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Addis zones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88715" y="3858518"/>
            <a:ext cx="364738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4,032 forecasts with uncertainty intervals, a local app, and reproducible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59284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PROBLEM ·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18940"/>
            <a:ext cx="5039293" cy="1146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Demand moves faster than the plan.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09585" y="2845891"/>
            <a:ext cx="50392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Ride demand changes by zone, hour, weather, and events. Operators need a dependable view before drivers and fares must move.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795613"/>
            <a:ext cx="1662964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36913"/>
            <a:ext cx="5039293" cy="156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1: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forecast hourly trips for 12 Addis Ababa zones.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2: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predict the 1–14 November 2025 horizon without future leakage.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3: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turn forecast quality into staffing, fare, and monitoring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8" name="Text 6"/>
          <p:cNvSpPr/>
          <p:nvPr/>
        </p:nvSpPr>
        <p:spPr>
          <a:xfrm>
            <a:off x="7071143" y="2541984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DECISION WINDOW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71143" y="2887365"/>
            <a:ext cx="5120552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8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071143" y="3721695"/>
            <a:ext cx="51205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zones × 24 hours × 14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71143" y="4129286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One common forecast frame for the city.</a:t>
            </a:r>
            <a:endParaRPr lang="en-US" sz="1050" dirty="0"/>
          </a:p>
        </p:txBody>
      </p:sp>
      <p:pic>
        <p:nvPicPr>
          <p:cNvPr id="901" name="fig03_demand_trend_with_holidays" descr="Fig03 · Demand Grew ~40% Jan–Oct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7068312" y="4617720"/>
            <a:ext cx="4572000" cy="2038178"/>
          </a:xfrm>
          <a:prstGeom prst="rect">
            <a:avLst/>
          </a:prstGeom>
        </p:spPr>
      </p:pic>
      <p:sp>
        <p:nvSpPr>
          <p:cNvPr id="1401" name="caption 901"/>
          <p:cNvSpPr/>
          <p:nvPr/>
        </p:nvSpPr>
        <p:spPr>
          <a:xfrm>
            <a:off x="7068312" y="440740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FIG03 · DEMAND GREW ~40% JAN–OCT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SOURCES · FORECASTING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Three inputs. One hourly forecasting grid.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647255"/>
            <a:ext cx="4648084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Trips: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10 months of synthetic hackathon ride records across 12 zones.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Weather: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hourly observations used to explain demand changes.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Events: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 city calendar capturing football and other demand shocks.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660999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902299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Target: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zone-hour trip demand for 1–14 November 2025.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FORECASTING FRAME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months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08494D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zones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234" y="1723827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All sources are joined on zone and time before features are created.</a:t>
            </a:r>
            <a:endParaRPr lang="en-US" sz="1050" dirty="0"/>
          </a:p>
        </p:txBody>
      </p:sp>
      <p:pic>
        <p:nvPicPr>
          <p:cNvPr id="902" name="fig04_hour_by_weekday_heatmap" descr="Fig04 · Hour × Weekday Pattern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6629400" y="2286000"/>
            <a:ext cx="5257800" cy="1903219"/>
          </a:xfrm>
          <a:prstGeom prst="rect">
            <a:avLst/>
          </a:prstGeom>
        </p:spPr>
      </p:pic>
      <p:sp>
        <p:nvSpPr>
          <p:cNvPr id="1402" name="caption 902"/>
          <p:cNvSpPr/>
          <p:nvPr/>
        </p:nvSpPr>
        <p:spPr>
          <a:xfrm>
            <a:off x="6629400" y="207568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FIG04 · HOUR × WEEKDAY PATTERN</a:t>
            </a:r>
            <a:endParaRPr lang="en-US" sz="1050" dirty="0"/>
          </a:p>
        </p:txBody>
      </p:sp>
      <p:pic>
        <p:nvPicPr>
          <p:cNvPr id="903" name="fig05_zone_profiles" descr="Fig05 · Daily Profile By Zone Type"/>
          <p:cNvPicPr>
            <a:picLocks noChangeAspect="1"/>
          </p:cNvPicPr>
          <p:nvPr/>
        </p:nvPicPr>
        <p:blipFill>
          <a:blip r:embed="rIdFig2"/>
          <a:stretch>
            <a:fillRect/>
          </a:stretch>
        </p:blipFill>
        <p:spPr>
          <a:xfrm>
            <a:off x="6629400" y="4572000"/>
            <a:ext cx="5257800" cy="1345624"/>
          </a:xfrm>
          <a:prstGeom prst="rect">
            <a:avLst/>
          </a:prstGeom>
        </p:spPr>
      </p:pic>
      <p:sp>
        <p:nvSpPr>
          <p:cNvPr id="1403" name="caption 903"/>
          <p:cNvSpPr/>
          <p:nvPr/>
        </p:nvSpPr>
        <p:spPr>
          <a:xfrm>
            <a:off x="6629400" y="436168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FIG05 · DAILY PROFILE BY ZONE TYPE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CLEANING ·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5039293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Repair the inputs before asking the model to learn.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727027"/>
            <a:ext cx="50392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 documented and fixed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28 data problems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across the raw exports.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383459"/>
            <a:ext cx="5039293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Converted Fahrenheit weather values and handled −9999 rain sentinels.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Investigated 125 export spikes instead of silently dropping them.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Standardized inconsistent event rows and joined the sources by zone-hour.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5124152"/>
            <a:ext cx="50392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Outcome: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one clean, auditable analytical spine for training and forecast generation.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8" name="Text 6"/>
          <p:cNvSpPr/>
          <p:nvPr/>
        </p:nvSpPr>
        <p:spPr>
          <a:xfrm>
            <a:off x="7071143" y="2284214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QUALITY GATE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71143" y="2629595"/>
            <a:ext cx="5120552" cy="9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52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071143" y="3712865"/>
            <a:ext cx="51205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documented problems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71143" y="4164905"/>
            <a:ext cx="4764960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71143" y="4387155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Cleaning is part of the evidence, not hidden preprocessing.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BREAKTHROUGH · UTC → EAT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2293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weather clock was wrong.</a:t>
            </a:r>
            <a:endParaRPr lang="en-US" sz="43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D7D81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Fixing it changed the signal.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09585" y="3385046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26346"/>
            <a:ext cx="4648084" cy="230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Weather arrived in UTC.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Trips were recorded in East Africa Time. Shifting weather by +3 hours aligned cause and response in the same zone-hour.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Measured effect.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Rain correlation moved from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0.02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to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0.27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after the correction.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Modeling rule.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Chronological validation and forecast-time features prevented future information from leaking into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7" name="Text 5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 AFTER ALIGNMENT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29234" y="650180"/>
            <a:ext cx="5562461" cy="113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4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+3h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629234" y="1946771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UTC weather shifted into 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234" y="2398812"/>
            <a:ext cx="5257668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234" y="2621062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234" y="2966442"/>
            <a:ext cx="5257668" cy="790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lifts demand up to 64%, except Merkato, where it falls 42%.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Football demand reaches 1.8× before and 2.3× after the match.</a:t>
            </a:r>
            <a:endParaRPr lang="en-US" sz="1400" dirty="0"/>
          </a:p>
        </p:txBody>
      </p:sp>
      <p:pic>
        <p:nvPicPr>
          <p:cNvPr id="904" name="fig06_weather_timezone_check" descr="Fig06 · Clock Proof: Rain Signal Peaks At +3 H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6629400" y="4206240"/>
            <a:ext cx="5257800" cy="1951007"/>
          </a:xfrm>
          <a:prstGeom prst="rect">
            <a:avLst/>
          </a:prstGeom>
        </p:spPr>
      </p:pic>
      <p:sp>
        <p:nvSpPr>
          <p:cNvPr id="1404" name="caption 904"/>
          <p:cNvSpPr/>
          <p:nvPr/>
        </p:nvSpPr>
        <p:spPr>
          <a:xfrm>
            <a:off x="6629400" y="399592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FIG06 · CLOCK PROOF: RAIN SIGNAL PEAKS AT +3 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FEATURE ENGINEERING · DEMAND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Features explain when demand moves.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647255"/>
            <a:ext cx="4648084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36 forecast-time features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combine calendar structure, zone identity, weather, events, and recent demand context.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lifts demand up to 64% in most zones, while open-air Merkato falls 42%—a reminder that signals are local.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Football demand reaches 1.8× before kick-off and 2.3× after the final whistle.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 BOARD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64%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08494D"/>
          </a:solidFill>
          <a:ln/>
        </p:spPr>
      </p:sp>
      <p:sp>
        <p:nvSpPr>
          <p:cNvPr id="11" name="Text 9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2.3×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post-match demand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234" y="1723827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model sees context, not just a historical average.</a:t>
            </a:r>
            <a:endParaRPr lang="en-US" sz="1050" dirty="0"/>
          </a:p>
        </p:txBody>
      </p:sp>
      <p:pic>
        <p:nvPicPr>
          <p:cNvPr id="905" name="fig07_rain_effect" descr="Fig07 · Rain Effect By Zone Type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7441584" y="2331720"/>
            <a:ext cx="3633430" cy="2011680"/>
          </a:xfrm>
          <a:prstGeom prst="rect">
            <a:avLst/>
          </a:prstGeom>
        </p:spPr>
      </p:pic>
      <p:sp>
        <p:nvSpPr>
          <p:cNvPr id="1405" name="caption 905"/>
          <p:cNvSpPr/>
          <p:nvPr/>
        </p:nvSpPr>
        <p:spPr>
          <a:xfrm>
            <a:off x="6629400" y="2103120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FIG07 · RAIN EFFECT BY ZONE TYPE</a:t>
            </a:r>
            <a:endParaRPr lang="en-US" sz="1050" dirty="0"/>
          </a:p>
        </p:txBody>
      </p:sp>
      <p:pic>
        <p:nvPicPr>
          <p:cNvPr id="906" name="fig08_event_study" descr="Fig08 · Football Event Study"/>
          <p:cNvPicPr>
            <a:picLocks noChangeAspect="1"/>
          </p:cNvPicPr>
          <p:nvPr/>
        </p:nvPicPr>
        <p:blipFill>
          <a:blip r:embed="rIdFig2"/>
          <a:stretch>
            <a:fillRect/>
          </a:stretch>
        </p:blipFill>
        <p:spPr>
          <a:xfrm>
            <a:off x="7317016" y="4617720"/>
            <a:ext cx="3882566" cy="2011680"/>
          </a:xfrm>
          <a:prstGeom prst="rect">
            <a:avLst/>
          </a:prstGeom>
        </p:spPr>
      </p:pic>
      <p:sp>
        <p:nvSpPr>
          <p:cNvPr id="1406" name="caption 906"/>
          <p:cNvSpPr/>
          <p:nvPr/>
        </p:nvSpPr>
        <p:spPr>
          <a:xfrm>
            <a:off x="6629400" y="440740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FIG08 · FOOTBALL EVENT STUDY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6877"/>
            <a:ext cx="36931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MODEL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86532"/>
            <a:ext cx="3083542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LightGBM was the final choice.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85343"/>
            <a:ext cx="308354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13B4B9"/>
                </a:solidFill>
                <a:latin typeface="Bellefair" pitchFamily="34" charset="0"/>
                <a:ea typeface="Bellefair" pitchFamily="34" charset="-122"/>
                <a:cs typeface="Bellefair" pitchFamily="34" charset="-120"/>
              </a:rPr>
              <a:t>19% better.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09585" y="4728071"/>
            <a:ext cx="3083542" cy="14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Poisson objective · 36 forecast-time features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Selection: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compare simple baselines, classical models, and tree ensembles under chronological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64594" y="304800"/>
          <a:ext cx="6822309" cy="914400"/>
        </p:xfrm>
        <a:graphic>
          <a:graphicData uri="http://schemas.openxmlformats.org/drawingml/2006/table">
            <a:tbl>
              <a:tblPr/>
              <a:tblGrid>
                <a:gridCol w="2886400"/>
                <a:gridCol w="1022225"/>
                <a:gridCol w="1048518"/>
                <a:gridCol w="186516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Model family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Role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Type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Outcome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Mean predictor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27.53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Moving average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14.55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Seasonal 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9.94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Ridge regression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Classical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Linear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12.99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ARIMA per zone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Classical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Statistical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10.41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Random forest · gradient boosting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Ensemble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8.79 · 8.63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HistGradientBoosting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Ensemble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8.20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Final tuned LightGBM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Winner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Boosted 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8.09 · MAE 5.60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3805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EVALUATION · ABLATION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73461"/>
            <a:ext cx="4648084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gain held under rolling-origin validation.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3831233"/>
            <a:ext cx="4648084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Validation, 18–31 Oct: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RMSE 8.09 and MAE 5.60.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Rolling origin: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RMSE 8.68 ± 0.80 across five 14-day folds.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Baseline: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seasonal naive RMSE 9.94, so the final model improves 19%.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6" name="Text 4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ABLATION RMSE CHANGE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234" y="650180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−0.88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29234" y="1413371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weather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234" y="1820962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−0.35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629234" y="2584152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events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234" y="2991743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−1.16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29234" y="3754934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weather + events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234" y="4206974"/>
            <a:ext cx="5257668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234" y="4429224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Both together lower RMSE by 11.7%; weather by 8.9%; events by 3.5%.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FROM FORECAST TO 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72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Forecasts become staffing and fare decisions.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09585" y="2811661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052961"/>
            <a:ext cx="4648084" cy="205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Local web app.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One command (python app/app.py) opens a live zone map with forecasts by zone and hour.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Operational outputs.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Plan driver coverage, anticipate rain and event peaks, and monitor exceptions before demand moves.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Uncertainty is visible.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Every forecast includes prediction intervals rather than a single point estimate.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7" name="Text 5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DELIVERY SNAPSHOT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4,032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forecasts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79.8%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80% interval coverage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234" y="1647627"/>
            <a:ext cx="5257668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234" y="1800027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89.6%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234" y="2153642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90% interval coverage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234" y="2721273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decision surface for operations—not just a model score.</a:t>
            </a:r>
            <a:endParaRPr lang="en-US" sz="1400" dirty="0"/>
          </a:p>
        </p:txBody>
      </p:sp>
      <p:pic>
        <p:nvPicPr>
          <p:cNvPr id="907" name="fig11_forecast_vs_actual" descr="Fig11 · Forecast Vs Actual, 18–31 Oct"/>
          <p:cNvPicPr>
            <a:picLocks noChangeAspect="1"/>
          </p:cNvPicPr>
          <p:nvPr/>
        </p:nvPicPr>
        <p:blipFill>
          <a:blip r:embed="rIdFig1"/>
          <a:stretch>
            <a:fillRect/>
          </a:stretch>
        </p:blipFill>
        <p:spPr>
          <a:xfrm>
            <a:off x="6878813" y="3383280"/>
            <a:ext cx="4758972" cy="3246120"/>
          </a:xfrm>
          <a:prstGeom prst="rect">
            <a:avLst/>
          </a:prstGeom>
        </p:spPr>
      </p:pic>
      <p:sp>
        <p:nvSpPr>
          <p:cNvPr id="1407" name="caption 907"/>
          <p:cNvSpPr/>
          <p:nvPr/>
        </p:nvSpPr>
        <p:spPr>
          <a:xfrm>
            <a:off x="6629400" y="3172968"/>
            <a:ext cx="52578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FIG11 · FORECAST VS ACTUAL, 18–31 OCT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30375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FINAL DESTINATION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90030"/>
            <a:ext cx="5039293" cy="1146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Built to run again, not just once.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09585" y="3316982"/>
            <a:ext cx="5039293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Deliverables: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12 figures, 14 analysis tasks, 4,032 forecasts, and a local web app with a live zone map.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Reproducibility: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pinned requirements, relative paths, random_state 42, and documented data preparation.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Guardrails: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chronological validation, no test leakage, and explicit checks for the 28 data problems.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7071143" y="2261295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SUCCESS LOOKS LIKE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71143" y="2606675"/>
            <a:ext cx="476496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Dependable forecasts</a:t>
            </a:r>
            <a:endParaRPr lang="en-US" sz="3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for 12 Addis zones.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071143" y="3876675"/>
            <a:ext cx="4764960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71143" y="4098925"/>
            <a:ext cx="47649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Synthetic hackathon data, handled transparently. A clear path from raw exports to staffing, fares, and monitoring.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2026-10-06T14:03:49Z</dcterms:created>
  <dcterms:modified xsi:type="dcterms:W3CDTF">2026-10-06T14:03:49Z</dcterms:modified>
</cp:coreProperties>
</file>
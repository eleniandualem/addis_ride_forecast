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a6b4415-61ee-3890-0c9a-066be457b23d}">
          <p14:sldIdLst>
            <p14:sldId id="256"/>
            <p14:sldId id="257"/>
          </p14:sldIdLst>
        </p14:section>
        <p14:section name="Data" id="{dce2016c-8995-d460-a3e8-aceb572f7b5d}">
          <p14:sldIdLst>
            <p14:sldId id="258"/>
          </p14:sldIdLst>
        </p14:section>
        <p14:section name="Approach" id="{5c8fe162-f798-6752-b26a-be163aabf77e}">
          <p14:sldIdLst>
            <p14:sldId id="259"/>
            <p14:sldId id="260"/>
          </p14:sldIdLst>
        </p14:section>
        <p14:section name="What the data says" id="{71278326-a514-db33-dff7-b58393ef63c6}">
          <p14:sldIdLst>
            <p14:sldId id="261"/>
            <p14:sldId id="262"/>
          </p14:sldIdLst>
        </p14:section>
        <p14:section name="Results" id="{d31f6e68-67b3-fb38-318f-4a492beb33d4}">
          <p14:sldIdLst>
            <p14:sldId id="263"/>
            <p14:sldId id="264"/>
          </p14:sldIdLst>
        </p14:section>
        <p14:section name="Close" id="{6763f2b8-aa6c-231c-8ca4-2a1a8db8181b}">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teamdev. We forecast hourly ride demand for 12 Addis Ababa zones over 1 to 14 November 2025. Headline: 4,032 forecasts, validation RMSE 8.09, 19% better than the best simple baseline, and a demo that runs locally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matching drivers to riders hour by hour. Our objectives: forecast all 4,032 zone-hours, beat simple rules using only forecast-time information, and turn the numbers into something an operator can use. Success is measured as RMSE, which we translate into drivers using 1.3 trips per driver-hour.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inputs. Trips: 85,460 hourly rows for 12 zones from January to October. The forecast grid: 4,032 zone-hours in November. Hourly weather in UTC, and an events calendar of 165 events. Fares, waits and active drivers exist in history but are not known in advance, so we never use them as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in six phases: clean, integrate, explore, engineer features, model, deliver. Four guardrails held throughout: only forecast-time inputs, chronological validation, fitting only on training data, and every number reproducible from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is evidence, not housekeeping. We logged 28 issues. The most important: the weather file was on UTC. Two independent checks, the daily temperature peak and the rain-demand correlation, both point to a +3 hour shift. Without it, the rain effect almost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feel about this data. First, it is growing: about 40% from January to October, so a model that ignores recent level will under-forecast November. Second, each zone has its own rhythm: commute double peaks in business districts, a midday market in Merkato.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Weather and events matter, but not uniformly. Heavy rain lifts demand 64% in most zones, yet cuts it 42% in Merkato, an open-air market where shoppers stay home. Football matches more than double demand in the two hours after the final whistle. Road closures reduce demand. This is why our model learns effects per zone instead of one global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ten approaches, from a mean predictor and seasonal rules through ARIMA, ridge, random forest and gradient boosting. LightGBM with a Poisson objective won: RMSE 8.09 on the held-out fortnight, 19% better than the best simple rule, and 8.68 averaged over five rolling folds. Adding weather and events together lowers error by about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is a plan, not just a score. The app shows the 24-hour curve with its range, the peak hour, drivers needed and gross fares, and looks up weather and events by itself. Ranges are honest: 79.8% of actual hours fell inside the 80% range. For peaks, using the top of the range as an alert catches 92%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limits. Holiday eves are the biggest blind spot; the model under-calls surges; the data are synthetic with a short history; and we take the weather forecast as given. Next we would add a religious-calendar feed, per-zone uncertainty, weekly retraining and live error monitoring. Happy to run the demo on any zone and date you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48640" y="6309360"/>
            <a:ext cx="11091672" cy="9144"/>
          </a:xfrm>
          <a:prstGeom prst="rect">
            <a:avLst/>
          </a:prstGeom>
          <a:solidFill>
            <a:schemeClr val="accent6"/>
          </a:solidFill>
          <a:ln/>
        </p:spPr>
      </p:sp>
      <p:sp>
        <p:nvSpPr>
          <p:cNvPr id="3" name="Text 1"/>
          <p:cNvSpPr/>
          <p:nvPr/>
        </p:nvSpPr>
        <p:spPr>
          <a:xfrm>
            <a:off x="548640" y="6419088"/>
            <a:ext cx="7315200" cy="274320"/>
          </a:xfrm>
          <a:prstGeom prst="rect">
            <a:avLst/>
          </a:prstGeom>
          <a:noFill/>
          <a:ln/>
        </p:spPr>
        <p:txBody>
          <a:bodyPr wrap="square" rtlCol="0" anchor="ctr"/>
          <a:lstStyle/>
          <a:p>
            <a:pPr indent="0" marL="0">
              <a:buNone/>
            </a:pPr>
            <a:r>
              <a:rPr lang="en-US" sz="1000" dirty="0">
                <a:solidFill>
                  <a:schemeClr val="accent5"/>
                </a:solidFill>
              </a:rPr>
              <a:t>teamdev · Qiyas AI Hackathon #2 · Addis Ababa ride demand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19088"/>
            <a:ext cx="7315200" cy="274320"/>
          </a:xfrm>
          <a:prstGeom prst="rect">
            <a:avLst/>
          </a:prstGeom>
          <a:noFill/>
          <a:ln/>
        </p:spPr>
        <p:txBody>
          <a:bodyPr wrap="square" rtlCol="0" anchor="ctr"/>
          <a:lstStyle/>
          <a:p>
            <a:pPr indent="0" marL="0">
              <a:buNone/>
            </a:pPr>
            <a:r>
              <a:rPr lang="en-US" sz="1000" dirty="0">
                <a:solidFill>
                  <a:schemeClr val="accent6"/>
                </a:solidFill>
              </a:rPr>
              <a:t>teamdev · Qiyas AI Hackathon #2 · Addis Ababa ride demand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26"/>
        </a:solidFill>
      </p:bgPr>
    </p:bg>
    <p:spTree>
      <p:nvGrpSpPr>
        <p:cNvPr id="1" name=""/>
        <p:cNvGrpSpPr/>
        <p:nvPr/>
      </p:nvGrpSpPr>
      <p:grpSpPr>
        <a:xfrm>
          <a:off x="0" y="0"/>
          <a:ext cx="0" cy="0"/>
          <a:chOff x="0" y="0"/>
          <a:chExt cx="0" cy="0"/>
        </a:xfrm>
      </p:grpSpPr>
      <p:pic>
        <p:nvPicPr>
          <p:cNvPr id="2" name="cover photo, Addis Ababa traffic at dusk" descr="Addis Ababa traffic at dusk">    </p:cNvPr>
          <p:cNvPicPr>
            <a:picLocks noChangeAspect="1"/>
          </p:cNvPicPr>
          <p:nvPr/>
        </p:nvPicPr>
        <p:blipFill>
          <a:blip r:embed="rId1">
            <a:alphaModFix amt="45000"/>
          </a:blip>
          <a:stretch>
            <a:fillRect/>
          </a:stretch>
        </p:blipFill>
        <p:spPr>
          <a:xfrm>
            <a:off x="0" y="0"/>
            <a:ext cx="12188952" cy="6858000"/>
          </a:xfrm>
          <a:prstGeom prst="rect">
            <a:avLst/>
          </a:prstGeom>
        </p:spPr>
      </p:pic>
      <p:sp>
        <p:nvSpPr>
          <p:cNvPr id="3" name="title panel"/>
          <p:cNvSpPr/>
          <p:nvPr/>
        </p:nvSpPr>
        <p:spPr>
          <a:xfrm>
            <a:off x="0" y="0"/>
            <a:ext cx="7498080" cy="6858000"/>
          </a:xfrm>
          <a:prstGeom prst="rect">
            <a:avLst/>
          </a:prstGeom>
          <a:solidFill>
            <a:schemeClr val="tx1">
              <a:alpha val="80000"/>
            </a:schemeClr>
          </a:solidFill>
          <a:ln w="12700">
            <a:solidFill>
              <a:schemeClr val="tx1">
                <a:alpha val="80000"/>
              </a:schemeClr>
            </a:solidFill>
            <a:prstDash val="solid"/>
          </a:ln>
        </p:spPr>
      </p:sp>
      <p:sp>
        <p:nvSpPr>
          <p:cNvPr id="4" name="Text 1"/>
          <p:cNvSpPr txBox="1"/>
          <p:nvPr/>
        </p:nvSpPr>
        <p:spPr>
          <a:xfrm>
            <a:off x="640080" y="640080"/>
            <a:ext cx="640080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QIYAS AI HACKATHON #2 · TEAM TEAMDEV</a:t>
            </a:r>
            <a:endParaRPr lang="en-US" sz="1200" dirty="0"/>
          </a:p>
        </p:txBody>
      </p:sp>
      <p:sp>
        <p:nvSpPr>
          <p:cNvPr id="5" name="Text 2"/>
          <p:cNvSpPr txBox="1"/>
          <p:nvPr/>
        </p:nvSpPr>
        <p:spPr>
          <a:xfrm>
            <a:off x="640080" y="1005840"/>
            <a:ext cx="6583680" cy="1737360"/>
          </a:xfrm>
          <a:prstGeom prst="rect">
            <a:avLst/>
          </a:prstGeom>
          <a:noFill/>
          <a:ln/>
        </p:spPr>
        <p:txBody>
          <a:bodyPr wrap="square" lIns="0" tIns="0" rIns="0" bIns="0" rtlCol="0" anchor="t"/>
          <a:lstStyle/>
          <a:p>
            <a:pPr indent="0" marL="0">
              <a:buNone/>
            </a:pPr>
            <a:r>
              <a:rPr lang="en-US" sz="4000" b="1" dirty="0">
                <a:solidFill>
                  <a:schemeClr val="bg1"/>
                </a:solidFill>
                <a:latin typeface="Arial" pitchFamily="34" charset="0"/>
                <a:ea typeface="Arial" pitchFamily="34" charset="-122"/>
                <a:cs typeface="Arial" pitchFamily="34" charset="-120"/>
              </a:rPr>
              <a:t>Addis Ababa Ride Demand Forecasting</a:t>
            </a:r>
            <a:endParaRPr lang="en-US" sz="4000" dirty="0"/>
          </a:p>
        </p:txBody>
      </p:sp>
      <p:sp>
        <p:nvSpPr>
          <p:cNvPr id="6" name="Text 3"/>
          <p:cNvSpPr txBox="1"/>
          <p:nvPr/>
        </p:nvSpPr>
        <p:spPr>
          <a:xfrm>
            <a:off x="640080" y="2834640"/>
            <a:ext cx="6400800" cy="731520"/>
          </a:xfrm>
          <a:prstGeom prst="rect">
            <a:avLst/>
          </a:prstGeom>
          <a:noFill/>
          <a:ln/>
        </p:spPr>
        <p:txBody>
          <a:bodyPr wrap="square" lIns="0" tIns="0" rIns="0" bIns="0" rtlCol="0" anchor="ctr"/>
          <a:lstStyle/>
          <a:p>
            <a:pPr indent="0" marL="0">
              <a:buNone/>
            </a:pPr>
            <a:r>
              <a:rPr lang="en-US" sz="1600" dirty="0">
                <a:solidFill>
                  <a:schemeClr val="accent6"/>
                </a:solidFill>
              </a:rPr>
              <a:t>Hourly trip forecasts for 12 zones, 1–14 November 2025, so operators can put drivers where riders will be.</a:t>
            </a:r>
            <a:endParaRPr lang="en-US" sz="1600" dirty="0"/>
          </a:p>
        </p:txBody>
      </p:sp>
      <p:graphicFrame>
        <p:nvGraphicFramePr>
          <p:cNvPr id="2" name="team table"/>
          <p:cNvGraphicFramePr>
            <a:graphicFrameLocks noGrp="1"/>
          </p:cNvGraphicFramePr>
          <p:nvPr>
            <p:extLst>
              <p:ext uri="{D42A27DB-BD31-4B8C-83A1-F6EECF244321}">
                <p14:modId xmlns:p14="http://schemas.microsoft.com/office/powerpoint/2010/main" val="1579011935"/>
              </p:ext>
            </p:extLst>
          </p:nvPr>
        </p:nvGraphicFramePr>
        <p:xfrm>
          <a:off x="640080" y="3840480"/>
          <a:ext cx="5669280" cy="914400"/>
        </p:xfrm>
        <a:graphic>
          <a:graphicData uri="http://schemas.openxmlformats.org/drawingml/2006/table">
            <a:tbl>
              <a:tblPr/>
              <a:tblGrid>
                <a:gridCol w="2834640"/>
                <a:gridCol w="2834640"/>
              </a:tblGrid>
              <a:tr h="274320">
                <a:tc>
                  <a:txBody>
                    <a:bodyPr/>
                    <a:lstStyle/>
                    <a:p>
                      <a:pPr indent="0" marL="0">
                        <a:buNone/>
                      </a:pPr>
                      <a:r>
                        <a:rPr lang="en-US" sz="1200" b="1" dirty="0">
                          <a:solidFill>
                            <a:srgbClr val="FFFFFF"/>
                          </a:solidFill>
                        </a:rPr>
                        <a:t>Team member</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b="1" dirty="0">
                          <a:solidFill>
                            <a:srgbClr val="FFFFFF"/>
                          </a:solidFill>
                        </a:rPr>
                        <a:t>Student ID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Abraham Gebeyehu</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qiyas-2026-004484</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Bethelhem Legesse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qiyas-2026-000286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Eden Kibret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qiyas-2026-000721</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Eleni Andualem</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qiyas-2026-000054</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Feven Abebe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qiyas-2026-003641</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Surafel Solomon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qiyas-2026-007128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bl>
          </a:graphicData>
        </a:graphic>
      </p:graphicFrame>
      <p:sp>
        <p:nvSpPr>
          <p:cNvPr id="8" name="Text 4"/>
          <p:cNvSpPr txBox="1"/>
          <p:nvPr/>
        </p:nvSpPr>
        <p:spPr>
          <a:xfrm>
            <a:off x="640080" y="6035040"/>
            <a:ext cx="6400800" cy="274320"/>
          </a:xfrm>
          <a:prstGeom prst="rect">
            <a:avLst/>
          </a:prstGeom>
          <a:noFill/>
          <a:ln/>
        </p:spPr>
        <p:txBody>
          <a:bodyPr wrap="square" lIns="0" tIns="0" rIns="0" bIns="0" rtlCol="0" anchor="ctr"/>
          <a:lstStyle/>
          <a:p>
            <a:pPr indent="0" marL="0">
              <a:buNone/>
            </a:pPr>
            <a:r>
              <a:rPr lang="en-US" sz="1100" dirty="0">
                <a:solidFill>
                  <a:schemeClr val="accent6"/>
                </a:solidFill>
              </a:rPr>
              <a:t>IADE AI Training Program · Addis Ababa University</a:t>
            </a:r>
            <a:endParaRPr lang="en-US" sz="1100" dirty="0"/>
          </a:p>
        </p:txBody>
      </p:sp>
      <p:sp>
        <p:nvSpPr>
          <p:cNvPr id="9" name="Text 5"/>
          <p:cNvSpPr txBox="1"/>
          <p:nvPr/>
        </p:nvSpPr>
        <p:spPr>
          <a:xfrm>
            <a:off x="8001000" y="1463040"/>
            <a:ext cx="3657600" cy="640080"/>
          </a:xfrm>
          <a:prstGeom prst="rect">
            <a:avLst/>
          </a:prstGeom>
          <a:noFill/>
          <a:ln/>
        </p:spPr>
        <p:txBody>
          <a:bodyPr wrap="square" lIns="0" tIns="0" rIns="0" bIns="0" rtlCol="0" anchor="ctr"/>
          <a:lstStyle/>
          <a:p>
            <a:pPr indent="0" marL="0">
              <a:buNone/>
            </a:pPr>
            <a:r>
              <a:rPr lang="en-US" sz="3400" b="1" dirty="0">
                <a:solidFill>
                  <a:schemeClr val="bg1"/>
                </a:solidFill>
                <a:latin typeface="Arial" pitchFamily="34" charset="0"/>
                <a:ea typeface="Arial" pitchFamily="34" charset="-122"/>
                <a:cs typeface="Arial" pitchFamily="34" charset="-120"/>
              </a:rPr>
              <a:t>4,032</a:t>
            </a:r>
            <a:endParaRPr lang="en-US" sz="3400" dirty="0"/>
          </a:p>
        </p:txBody>
      </p:sp>
      <p:sp>
        <p:nvSpPr>
          <p:cNvPr id="10" name="Text 6"/>
          <p:cNvSpPr txBox="1"/>
          <p:nvPr/>
        </p:nvSpPr>
        <p:spPr>
          <a:xfrm>
            <a:off x="8001000" y="2084832"/>
            <a:ext cx="3657600" cy="365760"/>
          </a:xfrm>
          <a:prstGeom prst="rect">
            <a:avLst/>
          </a:prstGeom>
          <a:noFill/>
          <a:ln/>
        </p:spPr>
        <p:txBody>
          <a:bodyPr wrap="square" lIns="0" tIns="0" rIns="0" bIns="0" rtlCol="0" anchor="ctr"/>
          <a:lstStyle/>
          <a:p>
            <a:pPr indent="0" marL="0">
              <a:buNone/>
            </a:pPr>
            <a:r>
              <a:rPr lang="en-US" sz="1400" dirty="0">
                <a:solidFill>
                  <a:schemeClr val="accent6"/>
                </a:solidFill>
              </a:rPr>
              <a:t>zone-hour forecasts</a:t>
            </a:r>
            <a:endParaRPr lang="en-US" sz="1400" dirty="0"/>
          </a:p>
        </p:txBody>
      </p:sp>
      <p:sp>
        <p:nvSpPr>
          <p:cNvPr id="11" name="Text 7"/>
          <p:cNvSpPr txBox="1"/>
          <p:nvPr/>
        </p:nvSpPr>
        <p:spPr>
          <a:xfrm>
            <a:off x="8001000" y="2880360"/>
            <a:ext cx="3657600" cy="640080"/>
          </a:xfrm>
          <a:prstGeom prst="rect">
            <a:avLst/>
          </a:prstGeom>
          <a:noFill/>
          <a:ln/>
        </p:spPr>
        <p:txBody>
          <a:bodyPr wrap="square" lIns="0" tIns="0" rIns="0" bIns="0" rtlCol="0" anchor="ctr"/>
          <a:lstStyle/>
          <a:p>
            <a:pPr indent="0" marL="0">
              <a:buNone/>
            </a:pPr>
            <a:r>
              <a:rPr lang="en-US" sz="3400" b="1" dirty="0">
                <a:solidFill>
                  <a:schemeClr val="bg1"/>
                </a:solidFill>
                <a:latin typeface="Arial" pitchFamily="34" charset="0"/>
                <a:ea typeface="Arial" pitchFamily="34" charset="-122"/>
                <a:cs typeface="Arial" pitchFamily="34" charset="-120"/>
              </a:rPr>
              <a:t>8.09</a:t>
            </a:r>
            <a:endParaRPr lang="en-US" sz="3400" dirty="0"/>
          </a:p>
        </p:txBody>
      </p:sp>
      <p:sp>
        <p:nvSpPr>
          <p:cNvPr id="12" name="Text 8"/>
          <p:cNvSpPr txBox="1"/>
          <p:nvPr/>
        </p:nvSpPr>
        <p:spPr>
          <a:xfrm>
            <a:off x="8001000" y="3502152"/>
            <a:ext cx="3657600" cy="365760"/>
          </a:xfrm>
          <a:prstGeom prst="rect">
            <a:avLst/>
          </a:prstGeom>
          <a:noFill/>
          <a:ln/>
        </p:spPr>
        <p:txBody>
          <a:bodyPr wrap="square" lIns="0" tIns="0" rIns="0" bIns="0" rtlCol="0" anchor="ctr"/>
          <a:lstStyle/>
          <a:p>
            <a:pPr indent="0" marL="0">
              <a:buNone/>
            </a:pPr>
            <a:r>
              <a:rPr lang="en-US" sz="1400" dirty="0">
                <a:solidFill>
                  <a:schemeClr val="accent6"/>
                </a:solidFill>
              </a:rPr>
              <a:t>RMSE, 19% better than baseline</a:t>
            </a:r>
            <a:endParaRPr lang="en-US" sz="1400" dirty="0"/>
          </a:p>
        </p:txBody>
      </p:sp>
      <p:sp>
        <p:nvSpPr>
          <p:cNvPr id="13" name="Text 9"/>
          <p:cNvSpPr txBox="1"/>
          <p:nvPr/>
        </p:nvSpPr>
        <p:spPr>
          <a:xfrm>
            <a:off x="8001000" y="4297680"/>
            <a:ext cx="3657600" cy="640080"/>
          </a:xfrm>
          <a:prstGeom prst="rect">
            <a:avLst/>
          </a:prstGeom>
          <a:noFill/>
          <a:ln/>
        </p:spPr>
        <p:txBody>
          <a:bodyPr wrap="square" lIns="0" tIns="0" rIns="0" bIns="0" rtlCol="0" anchor="ctr"/>
          <a:lstStyle/>
          <a:p>
            <a:pPr indent="0" marL="0">
              <a:buNone/>
            </a:pPr>
            <a:r>
              <a:rPr lang="en-US" sz="3400" b="1" dirty="0">
                <a:solidFill>
                  <a:schemeClr val="bg1"/>
                </a:solidFill>
                <a:latin typeface="Arial" pitchFamily="34" charset="0"/>
                <a:ea typeface="Arial" pitchFamily="34" charset="-122"/>
                <a:cs typeface="Arial" pitchFamily="34" charset="-120"/>
              </a:rPr>
              <a:t>1 command</a:t>
            </a:r>
            <a:endParaRPr lang="en-US" sz="3400" dirty="0"/>
          </a:p>
        </p:txBody>
      </p:sp>
      <p:sp>
        <p:nvSpPr>
          <p:cNvPr id="14" name="Text 10"/>
          <p:cNvSpPr txBox="1"/>
          <p:nvPr/>
        </p:nvSpPr>
        <p:spPr>
          <a:xfrm>
            <a:off x="8001000" y="4919472"/>
            <a:ext cx="3657600" cy="365760"/>
          </a:xfrm>
          <a:prstGeom prst="rect">
            <a:avLst/>
          </a:prstGeom>
          <a:noFill/>
          <a:ln/>
        </p:spPr>
        <p:txBody>
          <a:bodyPr wrap="square" lIns="0" tIns="0" rIns="0" bIns="0" rtlCol="0" anchor="ctr"/>
          <a:lstStyle/>
          <a:p>
            <a:pPr indent="0" marL="0">
              <a:buNone/>
            </a:pPr>
            <a:r>
              <a:rPr lang="en-US" sz="1400" dirty="0">
                <a:solidFill>
                  <a:schemeClr val="accent6"/>
                </a:solidFill>
              </a:rPr>
              <a:t>local demo 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THE BUSINESS PROBLEM</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Too few drivers means lost rides; too many means idle cars</a:t>
            </a:r>
            <a:endParaRPr lang="en-US" sz="2600" dirty="0"/>
          </a:p>
        </p:txBody>
      </p:sp>
      <p:sp>
        <p:nvSpPr>
          <p:cNvPr id="4" name="bullets"/>
          <p:cNvSpPr txBox="1"/>
          <p:nvPr/>
        </p:nvSpPr>
        <p:spPr>
          <a:xfrm>
            <a:off x="548640" y="1600200"/>
            <a:ext cx="5852160" cy="2377440"/>
          </a:xfrm>
          <a:prstGeom prst="rect">
            <a:avLst/>
          </a:prstGeom>
          <a:noFill/>
          <a:ln/>
        </p:spPr>
        <p:txBody>
          <a:bodyPr wrap="square" lIns="0" tIns="0" rIns="0" bIns="0" rtlCol="0" anchor="t"/>
          <a:lstStyle/>
          <a:p>
            <a:pPr marL="177800" indent="-177800">
              <a:spcAft>
                <a:spcPts val="700"/>
              </a:spcAft>
              <a:buSzPct val="100000"/>
              <a:buChar char="•"/>
            </a:pPr>
            <a:r>
              <a:rPr lang="en-US" sz="1500" b="1" dirty="0">
                <a:solidFill>
                  <a:schemeClr val="tx1"/>
                </a:solidFill>
              </a:rPr>
              <a:t>Demand swings fast. </a:t>
            </a:r>
            <a:pPr indent="0" marL="0">
              <a:spcAft>
                <a:spcPts val="700"/>
              </a:spcAft>
              <a:buNone/>
            </a:pPr>
            <a:r>
              <a:rPr lang="en-US" sz="1500" dirty="0">
                <a:solidFill>
                  <a:schemeClr val="tx1"/>
                </a:solidFill>
              </a:rPr>
              <a:t>Evening peaks run 2.6× the daily average in business districts, rain and football matches add more on top.</a:t>
            </a:r>
            <a:endParaRPr lang="en-US" sz="1500" dirty="0"/>
          </a:p>
          <a:p>
            <a:pPr marL="177800" indent="-177800">
              <a:spcAft>
                <a:spcPts val="700"/>
              </a:spcAft>
              <a:buSzPct val="100000"/>
              <a:buChar char="•"/>
            </a:pPr>
            <a:r>
              <a:rPr lang="en-US" sz="1500" b="1" dirty="0">
                <a:solidFill>
                  <a:schemeClr val="tx1"/>
                </a:solidFill>
              </a:rPr>
              <a:t>Operators decide ahead. </a:t>
            </a:r>
            <a:pPr indent="0" marL="0">
              <a:spcAft>
                <a:spcPts val="700"/>
              </a:spcAft>
              <a:buNone/>
            </a:pPr>
            <a:r>
              <a:rPr lang="en-US" sz="1500" dirty="0">
                <a:solidFill>
                  <a:schemeClr val="tx1"/>
                </a:solidFill>
              </a:rPr>
              <a:t>Driver shifts, incentives and fare planning are set days before the demand arrives.</a:t>
            </a:r>
            <a:endParaRPr lang="en-US" sz="1500" dirty="0"/>
          </a:p>
          <a:p>
            <a:pPr marL="177800" indent="-177800">
              <a:spcAft>
                <a:spcPts val="700"/>
              </a:spcAft>
              <a:buSzPct val="100000"/>
              <a:buChar char="•"/>
            </a:pPr>
            <a:r>
              <a:rPr lang="en-US" sz="1500" b="1" dirty="0">
                <a:solidFill>
                  <a:schemeClr val="tx1"/>
                </a:solidFill>
              </a:rPr>
              <a:t>One shared forecast. </a:t>
            </a:r>
            <a:pPr indent="0" marL="0">
              <a:spcAft>
                <a:spcPts val="700"/>
              </a:spcAft>
              <a:buNone/>
            </a:pPr>
            <a:r>
              <a:rPr lang="en-US" sz="1500" dirty="0">
                <a:solidFill>
                  <a:schemeClr val="tx1"/>
                </a:solidFill>
              </a:rPr>
              <a:t>Every team plans from the same hourly number per zone instead of gut feel.</a:t>
            </a:r>
            <a:endParaRPr lang="en-US" sz="1500" dirty="0"/>
          </a:p>
        </p:txBody>
      </p:sp>
      <p:sp>
        <p:nvSpPr>
          <p:cNvPr id="5" name="Text 3"/>
          <p:cNvSpPr txBox="1"/>
          <p:nvPr/>
        </p:nvSpPr>
        <p:spPr>
          <a:xfrm>
            <a:off x="6858000" y="1600200"/>
            <a:ext cx="4572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OBJECTIVES</a:t>
            </a:r>
            <a:endParaRPr lang="en-US" sz="1100" dirty="0"/>
          </a:p>
        </p:txBody>
      </p:sp>
      <p:sp>
        <p:nvSpPr>
          <p:cNvPr id="6" name="card Forecast"/>
          <p:cNvSpPr/>
          <p:nvPr/>
        </p:nvSpPr>
        <p:spPr>
          <a:xfrm>
            <a:off x="6858000" y="1965960"/>
            <a:ext cx="4782312" cy="960120"/>
          </a:xfrm>
          <a:prstGeom prst="roundRect">
            <a:avLst>
              <a:gd name="adj" fmla="val 7619"/>
            </a:avLst>
          </a:prstGeom>
          <a:solidFill>
            <a:schemeClr val="bg2"/>
          </a:solidFill>
          <a:ln w="12700">
            <a:solidFill>
              <a:schemeClr val="bg2"/>
            </a:solidFill>
            <a:prstDash val="solid"/>
          </a:ln>
        </p:spPr>
      </p:sp>
      <p:sp>
        <p:nvSpPr>
          <p:cNvPr id="7" name="badge 1"/>
          <p:cNvSpPr/>
          <p:nvPr/>
        </p:nvSpPr>
        <p:spPr>
          <a:xfrm>
            <a:off x="7040880" y="2167128"/>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7040880" y="2167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7"/>
          <p:cNvSpPr txBox="1"/>
          <p:nvPr/>
        </p:nvSpPr>
        <p:spPr>
          <a:xfrm>
            <a:off x="7635240" y="2148840"/>
            <a:ext cx="3822192"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Forecast</a:t>
            </a:r>
            <a:endParaRPr lang="en-US" sz="1500" dirty="0"/>
          </a:p>
        </p:txBody>
      </p:sp>
      <p:sp>
        <p:nvSpPr>
          <p:cNvPr id="10" name="Text 8"/>
          <p:cNvSpPr txBox="1"/>
          <p:nvPr/>
        </p:nvSpPr>
        <p:spPr>
          <a:xfrm>
            <a:off x="7086600" y="2715768"/>
            <a:ext cx="4370832" cy="914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hourly trips for all 12 zones, 1–14 Nov 2025 (4,032 zone-hours).</a:t>
            </a:r>
            <a:endParaRPr lang="en-US" sz="1200" dirty="0"/>
          </a:p>
        </p:txBody>
      </p:sp>
      <p:sp>
        <p:nvSpPr>
          <p:cNvPr id="11" name="card Beat simple rules"/>
          <p:cNvSpPr/>
          <p:nvPr/>
        </p:nvSpPr>
        <p:spPr>
          <a:xfrm>
            <a:off x="6858000" y="3063240"/>
            <a:ext cx="4782312" cy="960120"/>
          </a:xfrm>
          <a:prstGeom prst="roundRect">
            <a:avLst>
              <a:gd name="adj" fmla="val 7619"/>
            </a:avLst>
          </a:prstGeom>
          <a:solidFill>
            <a:schemeClr val="bg2"/>
          </a:solidFill>
          <a:ln w="12700">
            <a:solidFill>
              <a:schemeClr val="bg2"/>
            </a:solidFill>
            <a:prstDash val="solid"/>
          </a:ln>
        </p:spPr>
      </p:sp>
      <p:sp>
        <p:nvSpPr>
          <p:cNvPr id="12" name="badge 2"/>
          <p:cNvSpPr/>
          <p:nvPr/>
        </p:nvSpPr>
        <p:spPr>
          <a:xfrm>
            <a:off x="7040880" y="3264408"/>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7040880" y="32644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2"/>
          <p:cNvSpPr txBox="1"/>
          <p:nvPr/>
        </p:nvSpPr>
        <p:spPr>
          <a:xfrm>
            <a:off x="7635240" y="3246120"/>
            <a:ext cx="3822192"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Beat simple rules</a:t>
            </a:r>
            <a:endParaRPr lang="en-US" sz="1500" dirty="0"/>
          </a:p>
        </p:txBody>
      </p:sp>
      <p:sp>
        <p:nvSpPr>
          <p:cNvPr id="15" name="Text 13"/>
          <p:cNvSpPr txBox="1"/>
          <p:nvPr/>
        </p:nvSpPr>
        <p:spPr>
          <a:xfrm>
            <a:off x="7086600" y="3813048"/>
            <a:ext cx="4370832" cy="914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measurably, using only information known at forecast time.</a:t>
            </a:r>
            <a:endParaRPr lang="en-US" sz="1200" dirty="0"/>
          </a:p>
        </p:txBody>
      </p:sp>
      <p:sp>
        <p:nvSpPr>
          <p:cNvPr id="16" name="card Make it usable"/>
          <p:cNvSpPr/>
          <p:nvPr/>
        </p:nvSpPr>
        <p:spPr>
          <a:xfrm>
            <a:off x="6858000" y="4160520"/>
            <a:ext cx="4782312" cy="960120"/>
          </a:xfrm>
          <a:prstGeom prst="roundRect">
            <a:avLst>
              <a:gd name="adj" fmla="val 7619"/>
            </a:avLst>
          </a:prstGeom>
          <a:solidFill>
            <a:schemeClr val="bg2"/>
          </a:solidFill>
          <a:ln w="12700">
            <a:solidFill>
              <a:schemeClr val="bg2"/>
            </a:solidFill>
            <a:prstDash val="solid"/>
          </a:ln>
        </p:spPr>
      </p:sp>
      <p:sp>
        <p:nvSpPr>
          <p:cNvPr id="17" name="badge 3"/>
          <p:cNvSpPr/>
          <p:nvPr/>
        </p:nvSpPr>
        <p:spPr>
          <a:xfrm>
            <a:off x="7040880" y="4361688"/>
            <a:ext cx="457200" cy="457200"/>
          </a:xfrm>
          <a:prstGeom prst="ellipse">
            <a:avLst/>
          </a:prstGeom>
          <a:solidFill>
            <a:schemeClr val="accent1"/>
          </a:solidFill>
          <a:ln w="12700">
            <a:solidFill>
              <a:schemeClr val="accent1"/>
            </a:solidFill>
            <a:prstDash val="solid"/>
          </a:ln>
        </p:spPr>
      </p:sp>
      <p:sp>
        <p:nvSpPr>
          <p:cNvPr id="18" name="Text 16"/>
          <p:cNvSpPr txBox="1"/>
          <p:nvPr/>
        </p:nvSpPr>
        <p:spPr>
          <a:xfrm>
            <a:off x="7040880" y="436168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17"/>
          <p:cNvSpPr txBox="1"/>
          <p:nvPr/>
        </p:nvSpPr>
        <p:spPr>
          <a:xfrm>
            <a:off x="7635240" y="4343400"/>
            <a:ext cx="3822192"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Make it usable</a:t>
            </a:r>
            <a:endParaRPr lang="en-US" sz="1500" dirty="0"/>
          </a:p>
        </p:txBody>
      </p:sp>
      <p:sp>
        <p:nvSpPr>
          <p:cNvPr id="20" name="Text 18"/>
          <p:cNvSpPr txBox="1"/>
          <p:nvPr/>
        </p:nvSpPr>
        <p:spPr>
          <a:xfrm>
            <a:off x="7086600" y="4910328"/>
            <a:ext cx="4370832" cy="914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drivers needed, fares, a range of outcomes and a one-command demo.</a:t>
            </a:r>
            <a:endParaRPr lang="en-US" sz="1200" dirty="0"/>
          </a:p>
        </p:txBody>
      </p:sp>
      <p:sp>
        <p:nvSpPr>
          <p:cNvPr id="21" name="metric card"/>
          <p:cNvSpPr/>
          <p:nvPr/>
        </p:nvSpPr>
        <p:spPr>
          <a:xfrm>
            <a:off x="548640" y="4343400"/>
            <a:ext cx="5852160" cy="1600200"/>
          </a:xfrm>
          <a:prstGeom prst="roundRect">
            <a:avLst>
              <a:gd name="adj" fmla="val 4571"/>
            </a:avLst>
          </a:prstGeom>
          <a:solidFill>
            <a:schemeClr val="tx1"/>
          </a:solidFill>
          <a:ln w="12700">
            <a:solidFill>
              <a:schemeClr val="tx1"/>
            </a:solidFill>
            <a:prstDash val="solid"/>
          </a:ln>
        </p:spPr>
      </p:sp>
      <p:sp>
        <p:nvSpPr>
          <p:cNvPr id="22" name="Text 20"/>
          <p:cNvSpPr txBox="1"/>
          <p:nvPr/>
        </p:nvSpPr>
        <p:spPr>
          <a:xfrm>
            <a:off x="777240" y="4498848"/>
            <a:ext cx="54864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HOW WE MEASURE SUCCESS</a:t>
            </a:r>
            <a:endParaRPr lang="en-US" sz="1100" dirty="0"/>
          </a:p>
        </p:txBody>
      </p:sp>
      <p:sp>
        <p:nvSpPr>
          <p:cNvPr id="23" name="Text 21"/>
          <p:cNvSpPr txBox="1"/>
          <p:nvPr/>
        </p:nvSpPr>
        <p:spPr>
          <a:xfrm>
            <a:off x="777240" y="4800600"/>
            <a:ext cx="5486400" cy="1051560"/>
          </a:xfrm>
          <a:prstGeom prst="rect">
            <a:avLst/>
          </a:prstGeom>
          <a:noFill/>
          <a:ln/>
        </p:spPr>
        <p:txBody>
          <a:bodyPr wrap="square" lIns="0" tIns="0" rIns="0" bIns="0" rtlCol="0" anchor="t"/>
          <a:lstStyle/>
          <a:p>
            <a:pPr indent="0" marL="0">
              <a:buNone/>
            </a:pPr>
            <a:r>
              <a:rPr lang="en-US" sz="1300" b="1" dirty="0">
                <a:solidFill>
                  <a:srgbClr val="FFFFFF"/>
                </a:solidFill>
              </a:rPr>
              <a:t>RMSE in trips per zone-hour</a:t>
            </a:r>
            <a:endParaRPr lang="en-US" sz="1300" dirty="0"/>
          </a:p>
          <a:p>
            <a:pPr indent="0" marL="0">
              <a:buNone/>
            </a:pPr>
            <a:r>
              <a:rPr lang="en-US" sz="1300" dirty="0">
                <a:solidFill>
                  <a:srgbClr val="C8DCDD"/>
                </a:solidFill>
              </a:rPr>
              <a:t>on the last two weeks of October, held out from training. In operations terms: one driver completes about 1.3 trips per hour, so every 1.3 trips of error is one driver too many or too few.</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THE DATA</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Four tables, ten months, twelve zones</a:t>
            </a:r>
            <a:endParaRPr lang="en-US" sz="2600" dirty="0"/>
          </a:p>
        </p:txBody>
      </p:sp>
      <p:sp>
        <p:nvSpPr>
          <p:cNvPr id="4" name="card Trips (training)"/>
          <p:cNvSpPr/>
          <p:nvPr/>
        </p:nvSpPr>
        <p:spPr>
          <a:xfrm>
            <a:off x="548640" y="1600200"/>
            <a:ext cx="2788920" cy="1965960"/>
          </a:xfrm>
          <a:prstGeom prst="roundRect">
            <a:avLst>
              <a:gd name="adj" fmla="val 3721"/>
            </a:avLst>
          </a:prstGeom>
          <a:solidFill>
            <a:schemeClr val="bg2"/>
          </a:solidFill>
          <a:ln w="12700">
            <a:solidFill>
              <a:schemeClr val="bg2"/>
            </a:solidFill>
            <a:prstDash val="solid"/>
          </a:ln>
        </p:spPr>
      </p:sp>
      <p:sp>
        <p:nvSpPr>
          <p:cNvPr id="5" name="Text 3"/>
          <p:cNvSpPr txBox="1"/>
          <p:nvPr/>
        </p:nvSpPr>
        <p:spPr>
          <a:xfrm>
            <a:off x="777240" y="1783080"/>
            <a:ext cx="2377440"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Trips (training)</a:t>
            </a:r>
            <a:endParaRPr lang="en-US" sz="1500" dirty="0"/>
          </a:p>
        </p:txBody>
      </p:sp>
      <p:sp>
        <p:nvSpPr>
          <p:cNvPr id="6" name="Text 4"/>
          <p:cNvSpPr txBox="1"/>
          <p:nvPr/>
        </p:nvSpPr>
        <p:spPr>
          <a:xfrm>
            <a:off x="777240" y="2350008"/>
            <a:ext cx="2377440" cy="10972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85,460 rows · 1 Jan – 31 Oct 2025</a:t>
            </a:r>
            <a:endParaRPr lang="en-US" sz="1200" dirty="0"/>
          </a:p>
          <a:p>
            <a:pPr indent="0" marL="0">
              <a:spcAft>
                <a:spcPts val="400"/>
              </a:spcAft>
              <a:buNone/>
            </a:pPr>
            <a:r>
              <a:rPr lang="en-US" sz="1200" dirty="0">
                <a:solidFill>
                  <a:schemeClr val="tx1"/>
                </a:solidFill>
              </a:rPr>
              <a:t>Hourly trips per zone, plus fares, wait times and active drivers (not usable as inputs: unknown in advance).</a:t>
            </a:r>
            <a:endParaRPr lang="en-US" sz="1200" dirty="0"/>
          </a:p>
        </p:txBody>
      </p:sp>
      <p:sp>
        <p:nvSpPr>
          <p:cNvPr id="7" name="card Forecast grid (test)"/>
          <p:cNvSpPr/>
          <p:nvPr/>
        </p:nvSpPr>
        <p:spPr>
          <a:xfrm>
            <a:off x="3474720" y="1600200"/>
            <a:ext cx="2788920" cy="1965960"/>
          </a:xfrm>
          <a:prstGeom prst="roundRect">
            <a:avLst>
              <a:gd name="adj" fmla="val 3721"/>
            </a:avLst>
          </a:prstGeom>
          <a:solidFill>
            <a:schemeClr val="bg2"/>
          </a:solidFill>
          <a:ln w="12700">
            <a:solidFill>
              <a:schemeClr val="bg2"/>
            </a:solidFill>
            <a:prstDash val="solid"/>
          </a:ln>
        </p:spPr>
      </p:sp>
      <p:sp>
        <p:nvSpPr>
          <p:cNvPr id="8" name="Text 6"/>
          <p:cNvSpPr txBox="1"/>
          <p:nvPr/>
        </p:nvSpPr>
        <p:spPr>
          <a:xfrm>
            <a:off x="3703320" y="1783080"/>
            <a:ext cx="2377440"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Forecast grid (test)</a:t>
            </a:r>
            <a:endParaRPr lang="en-US" sz="1500" dirty="0"/>
          </a:p>
        </p:txBody>
      </p:sp>
      <p:sp>
        <p:nvSpPr>
          <p:cNvPr id="9" name="Text 7"/>
          <p:cNvSpPr txBox="1"/>
          <p:nvPr/>
        </p:nvSpPr>
        <p:spPr>
          <a:xfrm>
            <a:off x="3703320" y="2350008"/>
            <a:ext cx="2377440" cy="10972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4,032 rows · 1 – 14 Nov 2025</a:t>
            </a:r>
            <a:endParaRPr lang="en-US" sz="1200" dirty="0"/>
          </a:p>
          <a:p>
            <a:pPr indent="0" marL="0">
              <a:spcAft>
                <a:spcPts val="400"/>
              </a:spcAft>
              <a:buNone/>
            </a:pPr>
            <a:r>
              <a:rPr lang="en-US" sz="1200" dirty="0">
                <a:solidFill>
                  <a:schemeClr val="tx1"/>
                </a:solidFill>
              </a:rPr>
              <a:t>12 zones × 24 hours × 14 days. Zone and hour only; we predict trips.</a:t>
            </a:r>
            <a:endParaRPr lang="en-US" sz="1200" dirty="0"/>
          </a:p>
        </p:txBody>
      </p:sp>
      <p:sp>
        <p:nvSpPr>
          <p:cNvPr id="10" name="card Weather"/>
          <p:cNvSpPr/>
          <p:nvPr/>
        </p:nvSpPr>
        <p:spPr>
          <a:xfrm>
            <a:off x="548640" y="3703320"/>
            <a:ext cx="2788920" cy="1965960"/>
          </a:xfrm>
          <a:prstGeom prst="roundRect">
            <a:avLst>
              <a:gd name="adj" fmla="val 3721"/>
            </a:avLst>
          </a:prstGeom>
          <a:solidFill>
            <a:schemeClr val="bg2"/>
          </a:solidFill>
          <a:ln w="12700">
            <a:solidFill>
              <a:schemeClr val="bg2"/>
            </a:solidFill>
            <a:prstDash val="solid"/>
          </a:ln>
        </p:spPr>
      </p:sp>
      <p:sp>
        <p:nvSpPr>
          <p:cNvPr id="11" name="Text 9"/>
          <p:cNvSpPr txBox="1"/>
          <p:nvPr/>
        </p:nvSpPr>
        <p:spPr>
          <a:xfrm>
            <a:off x="777240" y="3886200"/>
            <a:ext cx="2377440"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Weather</a:t>
            </a:r>
            <a:endParaRPr lang="en-US" sz="1500" dirty="0"/>
          </a:p>
        </p:txBody>
      </p:sp>
      <p:sp>
        <p:nvSpPr>
          <p:cNvPr id="12" name="Text 10"/>
          <p:cNvSpPr txBox="1"/>
          <p:nvPr/>
        </p:nvSpPr>
        <p:spPr>
          <a:xfrm>
            <a:off x="777240" y="4453128"/>
            <a:ext cx="2377440" cy="10972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7,538 hourly rows</a:t>
            </a:r>
            <a:endParaRPr lang="en-US" sz="1200" dirty="0"/>
          </a:p>
          <a:p>
            <a:pPr indent="0" marL="0">
              <a:spcAft>
                <a:spcPts val="400"/>
              </a:spcAft>
              <a:buNone/>
            </a:pPr>
            <a:r>
              <a:rPr lang="en-US" sz="1200" dirty="0">
                <a:solidFill>
                  <a:schemeClr val="tx1"/>
                </a:solidFill>
              </a:rPr>
              <a:t>Temperature, rain, humidity, wind, observed and forecast. Clock stored in UTC.</a:t>
            </a:r>
            <a:endParaRPr lang="en-US" sz="1200" dirty="0"/>
          </a:p>
        </p:txBody>
      </p:sp>
      <p:sp>
        <p:nvSpPr>
          <p:cNvPr id="13" name="card Events calendar"/>
          <p:cNvSpPr/>
          <p:nvPr/>
        </p:nvSpPr>
        <p:spPr>
          <a:xfrm>
            <a:off x="3474720" y="3703320"/>
            <a:ext cx="2788920" cy="1965960"/>
          </a:xfrm>
          <a:prstGeom prst="roundRect">
            <a:avLst>
              <a:gd name="adj" fmla="val 3721"/>
            </a:avLst>
          </a:prstGeom>
          <a:solidFill>
            <a:schemeClr val="bg2"/>
          </a:solidFill>
          <a:ln w="12700">
            <a:solidFill>
              <a:schemeClr val="bg2"/>
            </a:solidFill>
            <a:prstDash val="solid"/>
          </a:ln>
        </p:spPr>
      </p:sp>
      <p:sp>
        <p:nvSpPr>
          <p:cNvPr id="14" name="Text 12"/>
          <p:cNvSpPr txBox="1"/>
          <p:nvPr/>
        </p:nvSpPr>
        <p:spPr>
          <a:xfrm>
            <a:off x="3703320" y="3886200"/>
            <a:ext cx="2377440"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Events calendar</a:t>
            </a:r>
            <a:endParaRPr lang="en-US" sz="1500" dirty="0"/>
          </a:p>
        </p:txBody>
      </p:sp>
      <p:sp>
        <p:nvSpPr>
          <p:cNvPr id="15" name="Text 13"/>
          <p:cNvSpPr txBox="1"/>
          <p:nvPr/>
        </p:nvSpPr>
        <p:spPr>
          <a:xfrm>
            <a:off x="3703320" y="4453128"/>
            <a:ext cx="2377440" cy="10972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165 events, 8 types</a:t>
            </a:r>
            <a:endParaRPr lang="en-US" sz="1200" dirty="0"/>
          </a:p>
          <a:p>
            <a:pPr indent="0" marL="0">
              <a:spcAft>
                <a:spcPts val="400"/>
              </a:spcAft>
              <a:buNone/>
            </a:pPr>
            <a:r>
              <a:rPr lang="en-US" sz="1200" dirty="0">
                <a:solidFill>
                  <a:schemeClr val="tx1"/>
                </a:solidFill>
              </a:rPr>
              <a:t>Football, concerts, conferences, holidays, road closures; messy names, dates and zones.</a:t>
            </a:r>
            <a:endParaRPr lang="en-US" sz="1200" dirty="0"/>
          </a:p>
        </p:txBody>
      </p:sp>
      <p:sp>
        <p:nvSpPr>
          <p:cNvPr id="16" name="Text 14"/>
          <p:cNvSpPr txBox="1"/>
          <p:nvPr/>
        </p:nvSpPr>
        <p:spPr>
          <a:xfrm>
            <a:off x="6629400" y="1600200"/>
            <a:ext cx="50292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WHAT THE TRIP DATA LOOKS LIKE</a:t>
            </a:r>
            <a:endParaRPr lang="en-US" sz="1100" dirty="0"/>
          </a:p>
        </p:txBody>
      </p:sp>
      <p:pic>
        <p:nvPicPr>
          <p:cNvPr id="17" name="fig04 hour by weekday heatmap" descr="fig04 hour by weekday heatmap">    </p:cNvPr>
          <p:cNvPicPr>
            <a:picLocks noChangeAspect="1"/>
          </p:cNvPicPr>
          <p:nvPr/>
        </p:nvPicPr>
        <p:blipFill>
          <a:blip r:embed="rId1"/>
          <a:stretch>
            <a:fillRect/>
          </a:stretch>
        </p:blipFill>
        <p:spPr>
          <a:xfrm>
            <a:off x="6629400" y="2018306"/>
            <a:ext cx="5010912" cy="1815548"/>
          </a:xfrm>
          <a:prstGeom prst="rect">
            <a:avLst/>
          </a:prstGeom>
        </p:spPr>
      </p:pic>
      <p:sp>
        <p:nvSpPr>
          <p:cNvPr id="18" name="Text 15"/>
          <p:cNvSpPr txBox="1"/>
          <p:nvPr/>
        </p:nvSpPr>
        <p:spPr>
          <a:xfrm>
            <a:off x="6629400" y="3950208"/>
            <a:ext cx="5029200" cy="256032"/>
          </a:xfrm>
          <a:prstGeom prst="rect">
            <a:avLst/>
          </a:prstGeom>
          <a:noFill/>
          <a:ln/>
        </p:spPr>
        <p:txBody>
          <a:bodyPr wrap="square" lIns="0" tIns="0" rIns="0" bIns="0" rtlCol="0" anchor="ctr"/>
          <a:lstStyle/>
          <a:p>
            <a:pPr indent="0" marL="0">
              <a:buNone/>
            </a:pPr>
            <a:r>
              <a:rPr lang="en-US" sz="1050" i="1" dirty="0">
                <a:solidFill>
                  <a:schemeClr val="accent5"/>
                </a:solidFill>
              </a:rPr>
              <a:t>fig04 · Mean trips by hour and weekday: commute peaks on weekdays, later and flatter at weekends.</a:t>
            </a:r>
            <a:endParaRPr lang="en-US" sz="1050" dirty="0"/>
          </a:p>
        </p:txBody>
      </p:sp>
      <p:sp>
        <p:nvSpPr>
          <p:cNvPr id="19" name="stat zones"/>
          <p:cNvSpPr/>
          <p:nvPr/>
        </p:nvSpPr>
        <p:spPr>
          <a:xfrm>
            <a:off x="6629400" y="4434840"/>
            <a:ext cx="1600200" cy="960120"/>
          </a:xfrm>
          <a:prstGeom prst="roundRect">
            <a:avLst>
              <a:gd name="adj" fmla="val 7619"/>
            </a:avLst>
          </a:prstGeom>
          <a:solidFill>
            <a:schemeClr val="bg2"/>
          </a:solidFill>
          <a:ln w="12700">
            <a:solidFill>
              <a:schemeClr val="bg2"/>
            </a:solidFill>
            <a:prstDash val="solid"/>
          </a:ln>
        </p:spPr>
      </p:sp>
      <p:sp>
        <p:nvSpPr>
          <p:cNvPr id="20" name="Text 17"/>
          <p:cNvSpPr txBox="1"/>
          <p:nvPr/>
        </p:nvSpPr>
        <p:spPr>
          <a:xfrm>
            <a:off x="6793992" y="4507992"/>
            <a:ext cx="13258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12</a:t>
            </a:r>
            <a:endParaRPr lang="en-US" sz="2600" dirty="0"/>
          </a:p>
        </p:txBody>
      </p:sp>
      <p:sp>
        <p:nvSpPr>
          <p:cNvPr id="21" name="Text 18"/>
          <p:cNvSpPr txBox="1"/>
          <p:nvPr/>
        </p:nvSpPr>
        <p:spPr>
          <a:xfrm>
            <a:off x="6793992" y="5001768"/>
            <a:ext cx="1325880" cy="329184"/>
          </a:xfrm>
          <a:prstGeom prst="rect">
            <a:avLst/>
          </a:prstGeom>
          <a:noFill/>
          <a:ln/>
        </p:spPr>
        <p:txBody>
          <a:bodyPr wrap="square" lIns="0" tIns="0" rIns="0" bIns="0" rtlCol="0" anchor="t"/>
          <a:lstStyle/>
          <a:p>
            <a:pPr indent="0" marL="0">
              <a:buNone/>
            </a:pPr>
            <a:r>
              <a:rPr lang="en-US" sz="1150" dirty="0">
                <a:solidFill>
                  <a:schemeClr val="accent5"/>
                </a:solidFill>
              </a:rPr>
              <a:t>zones</a:t>
            </a:r>
            <a:endParaRPr lang="en-US" sz="1150" dirty="0"/>
          </a:p>
        </p:txBody>
      </p:sp>
      <p:sp>
        <p:nvSpPr>
          <p:cNvPr id="22" name="stat trips per zone-hour"/>
          <p:cNvSpPr/>
          <p:nvPr/>
        </p:nvSpPr>
        <p:spPr>
          <a:xfrm>
            <a:off x="8321040" y="4434840"/>
            <a:ext cx="1600200" cy="960120"/>
          </a:xfrm>
          <a:prstGeom prst="roundRect">
            <a:avLst>
              <a:gd name="adj" fmla="val 7619"/>
            </a:avLst>
          </a:prstGeom>
          <a:solidFill>
            <a:schemeClr val="bg2"/>
          </a:solidFill>
          <a:ln w="12700">
            <a:solidFill>
              <a:schemeClr val="bg2"/>
            </a:solidFill>
            <a:prstDash val="solid"/>
          </a:ln>
        </p:spPr>
      </p:sp>
      <p:sp>
        <p:nvSpPr>
          <p:cNvPr id="23" name="Text 20"/>
          <p:cNvSpPr txBox="1"/>
          <p:nvPr/>
        </p:nvSpPr>
        <p:spPr>
          <a:xfrm>
            <a:off x="8485632" y="4507992"/>
            <a:ext cx="13258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28.4</a:t>
            </a:r>
            <a:endParaRPr lang="en-US" sz="2600" dirty="0"/>
          </a:p>
        </p:txBody>
      </p:sp>
      <p:sp>
        <p:nvSpPr>
          <p:cNvPr id="24" name="Text 21"/>
          <p:cNvSpPr txBox="1"/>
          <p:nvPr/>
        </p:nvSpPr>
        <p:spPr>
          <a:xfrm>
            <a:off x="8485632" y="5001768"/>
            <a:ext cx="1325880" cy="329184"/>
          </a:xfrm>
          <a:prstGeom prst="rect">
            <a:avLst/>
          </a:prstGeom>
          <a:noFill/>
          <a:ln/>
        </p:spPr>
        <p:txBody>
          <a:bodyPr wrap="square" lIns="0" tIns="0" rIns="0" bIns="0" rtlCol="0" anchor="t"/>
          <a:lstStyle/>
          <a:p>
            <a:pPr indent="0" marL="0">
              <a:buNone/>
            </a:pPr>
            <a:r>
              <a:rPr lang="en-US" sz="1150" dirty="0">
                <a:solidFill>
                  <a:schemeClr val="accent5"/>
                </a:solidFill>
              </a:rPr>
              <a:t>trips per zone-hour</a:t>
            </a:r>
            <a:endParaRPr lang="en-US" sz="1150" dirty="0"/>
          </a:p>
        </p:txBody>
      </p:sp>
      <p:sp>
        <p:nvSpPr>
          <p:cNvPr id="25" name="stat trips in 10 months"/>
          <p:cNvSpPr/>
          <p:nvPr/>
        </p:nvSpPr>
        <p:spPr>
          <a:xfrm>
            <a:off x="10012680" y="4434840"/>
            <a:ext cx="1627632" cy="960120"/>
          </a:xfrm>
          <a:prstGeom prst="roundRect">
            <a:avLst>
              <a:gd name="adj" fmla="val 7619"/>
            </a:avLst>
          </a:prstGeom>
          <a:solidFill>
            <a:schemeClr val="bg2"/>
          </a:solidFill>
          <a:ln w="12700">
            <a:solidFill>
              <a:schemeClr val="bg2"/>
            </a:solidFill>
            <a:prstDash val="solid"/>
          </a:ln>
        </p:spPr>
      </p:sp>
      <p:sp>
        <p:nvSpPr>
          <p:cNvPr id="26" name="Text 23"/>
          <p:cNvSpPr txBox="1"/>
          <p:nvPr/>
        </p:nvSpPr>
        <p:spPr>
          <a:xfrm>
            <a:off x="10177272" y="4507992"/>
            <a:ext cx="1353312"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2.36 M</a:t>
            </a:r>
            <a:endParaRPr lang="en-US" sz="2600" dirty="0"/>
          </a:p>
        </p:txBody>
      </p:sp>
      <p:sp>
        <p:nvSpPr>
          <p:cNvPr id="27" name="Text 24"/>
          <p:cNvSpPr txBox="1"/>
          <p:nvPr/>
        </p:nvSpPr>
        <p:spPr>
          <a:xfrm>
            <a:off x="10177272" y="5001768"/>
            <a:ext cx="1353312" cy="329184"/>
          </a:xfrm>
          <a:prstGeom prst="rect">
            <a:avLst/>
          </a:prstGeom>
          <a:noFill/>
          <a:ln/>
        </p:spPr>
        <p:txBody>
          <a:bodyPr wrap="square" lIns="0" tIns="0" rIns="0" bIns="0" rtlCol="0" anchor="t"/>
          <a:lstStyle/>
          <a:p>
            <a:pPr indent="0" marL="0">
              <a:buNone/>
            </a:pPr>
            <a:r>
              <a:rPr lang="en-US" sz="1150" dirty="0">
                <a:solidFill>
                  <a:schemeClr val="accent5"/>
                </a:solidFill>
              </a:rPr>
              <a:t>trips in 10 months</a:t>
            </a:r>
            <a:endParaRPr lang="en-US" sz="1150" dirty="0"/>
          </a:p>
        </p:txBody>
      </p:sp>
      <p:sp>
        <p:nvSpPr>
          <p:cNvPr id="28" name="Text 25"/>
          <p:cNvSpPr txBox="1"/>
          <p:nvPr/>
        </p:nvSpPr>
        <p:spPr>
          <a:xfrm>
            <a:off x="6629400" y="5532120"/>
            <a:ext cx="5029200" cy="274320"/>
          </a:xfrm>
          <a:prstGeom prst="rect">
            <a:avLst/>
          </a:prstGeom>
          <a:noFill/>
          <a:ln/>
        </p:spPr>
        <p:txBody>
          <a:bodyPr wrap="square" lIns="0" tIns="0" rIns="0" bIns="0" rtlCol="0" anchor="ctr"/>
          <a:lstStyle/>
          <a:p>
            <a:pPr indent="0" marL="0">
              <a:buNone/>
            </a:pPr>
            <a:r>
              <a:rPr lang="en-US" sz="1100" i="1" dirty="0">
                <a:solidFill>
                  <a:schemeClr val="accent5"/>
                </a:solidFill>
              </a:rPr>
              <a:t>Data are synthetic, built for the hackathon.</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OUR PIPELINE</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bg1"/>
                </a:solidFill>
                <a:latin typeface="Arial" pitchFamily="34" charset="0"/>
                <a:ea typeface="Arial" pitchFamily="34" charset="-122"/>
                <a:cs typeface="Arial" pitchFamily="34" charset="-120"/>
              </a:rPr>
              <a:t>Six phases from raw exports to a working app</a:t>
            </a:r>
            <a:endParaRPr lang="en-US" sz="2600" dirty="0"/>
          </a:p>
        </p:txBody>
      </p:sp>
      <p:sp>
        <p:nvSpPr>
          <p:cNvPr id="4" name="phase Clean"/>
          <p:cNvSpPr/>
          <p:nvPr/>
        </p:nvSpPr>
        <p:spPr>
          <a:xfrm>
            <a:off x="548640" y="1828800"/>
            <a:ext cx="1755648" cy="2377440"/>
          </a:xfrm>
          <a:prstGeom prst="roundRect">
            <a:avLst>
              <a:gd name="adj" fmla="val 5208"/>
            </a:avLst>
          </a:prstGeom>
          <a:solidFill>
            <a:schemeClr val="tx2"/>
          </a:solidFill>
          <a:ln w="12700">
            <a:solidFill>
              <a:schemeClr val="tx2"/>
            </a:solidFill>
            <a:prstDash val="solid"/>
          </a:ln>
        </p:spPr>
      </p:sp>
      <p:sp>
        <p:nvSpPr>
          <p:cNvPr id="5" name="Text 3"/>
          <p:cNvSpPr txBox="1"/>
          <p:nvPr/>
        </p:nvSpPr>
        <p:spPr>
          <a:xfrm>
            <a:off x="731520"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01</a:t>
            </a:r>
            <a:endParaRPr lang="en-US" sz="2400" dirty="0"/>
          </a:p>
        </p:txBody>
      </p:sp>
      <p:sp>
        <p:nvSpPr>
          <p:cNvPr id="6" name="Text 4"/>
          <p:cNvSpPr txBox="1"/>
          <p:nvPr/>
        </p:nvSpPr>
        <p:spPr>
          <a:xfrm>
            <a:off x="731520"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Clean</a:t>
            </a:r>
            <a:endParaRPr lang="en-US" sz="1800" dirty="0"/>
          </a:p>
        </p:txBody>
      </p:sp>
      <p:sp>
        <p:nvSpPr>
          <p:cNvPr id="7" name="Text 5"/>
          <p:cNvSpPr txBox="1"/>
          <p:nvPr/>
        </p:nvSpPr>
        <p:spPr>
          <a:xfrm>
            <a:off x="731520"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28 data problems found, logged and fixed</a:t>
            </a:r>
            <a:endParaRPr lang="en-US" sz="1250" dirty="0"/>
          </a:p>
        </p:txBody>
      </p:sp>
      <p:sp>
        <p:nvSpPr>
          <p:cNvPr id="8" name="phase Integrate"/>
          <p:cNvSpPr/>
          <p:nvPr/>
        </p:nvSpPr>
        <p:spPr>
          <a:xfrm>
            <a:off x="2414016" y="1828800"/>
            <a:ext cx="1755648" cy="2377440"/>
          </a:xfrm>
          <a:prstGeom prst="roundRect">
            <a:avLst>
              <a:gd name="adj" fmla="val 5208"/>
            </a:avLst>
          </a:prstGeom>
          <a:solidFill>
            <a:schemeClr val="tx2"/>
          </a:solidFill>
          <a:ln w="12700">
            <a:solidFill>
              <a:schemeClr val="tx2"/>
            </a:solidFill>
            <a:prstDash val="solid"/>
          </a:ln>
        </p:spPr>
      </p:sp>
      <p:sp>
        <p:nvSpPr>
          <p:cNvPr id="9" name="Text 7"/>
          <p:cNvSpPr txBox="1"/>
          <p:nvPr/>
        </p:nvSpPr>
        <p:spPr>
          <a:xfrm>
            <a:off x="2596896"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02</a:t>
            </a:r>
            <a:endParaRPr lang="en-US" sz="2400" dirty="0"/>
          </a:p>
        </p:txBody>
      </p:sp>
      <p:sp>
        <p:nvSpPr>
          <p:cNvPr id="10" name="Text 8"/>
          <p:cNvSpPr txBox="1"/>
          <p:nvPr/>
        </p:nvSpPr>
        <p:spPr>
          <a:xfrm>
            <a:off x="2596896"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Integrate</a:t>
            </a:r>
            <a:endParaRPr lang="en-US" sz="1800" dirty="0"/>
          </a:p>
        </p:txBody>
      </p:sp>
      <p:sp>
        <p:nvSpPr>
          <p:cNvPr id="11" name="Text 9"/>
          <p:cNvSpPr txBox="1"/>
          <p:nvPr/>
        </p:nvSpPr>
        <p:spPr>
          <a:xfrm>
            <a:off x="2596896"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Weather and events joined to every zone-hour, 100% match</a:t>
            </a:r>
            <a:endParaRPr lang="en-US" sz="1250" dirty="0"/>
          </a:p>
        </p:txBody>
      </p:sp>
      <p:sp>
        <p:nvSpPr>
          <p:cNvPr id="12" name="phase Explore"/>
          <p:cNvSpPr/>
          <p:nvPr/>
        </p:nvSpPr>
        <p:spPr>
          <a:xfrm>
            <a:off x="4279392" y="1828800"/>
            <a:ext cx="1755648" cy="2377440"/>
          </a:xfrm>
          <a:prstGeom prst="roundRect">
            <a:avLst>
              <a:gd name="adj" fmla="val 5208"/>
            </a:avLst>
          </a:prstGeom>
          <a:solidFill>
            <a:schemeClr val="tx2"/>
          </a:solidFill>
          <a:ln w="12700">
            <a:solidFill>
              <a:schemeClr val="tx2"/>
            </a:solidFill>
            <a:prstDash val="solid"/>
          </a:ln>
        </p:spPr>
      </p:sp>
      <p:sp>
        <p:nvSpPr>
          <p:cNvPr id="13" name="Text 11"/>
          <p:cNvSpPr txBox="1"/>
          <p:nvPr/>
        </p:nvSpPr>
        <p:spPr>
          <a:xfrm>
            <a:off x="4462272"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03</a:t>
            </a:r>
            <a:endParaRPr lang="en-US" sz="2400" dirty="0"/>
          </a:p>
        </p:txBody>
      </p:sp>
      <p:sp>
        <p:nvSpPr>
          <p:cNvPr id="14" name="Text 12"/>
          <p:cNvSpPr txBox="1"/>
          <p:nvPr/>
        </p:nvSpPr>
        <p:spPr>
          <a:xfrm>
            <a:off x="4462272"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Explore</a:t>
            </a:r>
            <a:endParaRPr lang="en-US" sz="1800" dirty="0"/>
          </a:p>
        </p:txBody>
      </p:sp>
      <p:sp>
        <p:nvSpPr>
          <p:cNvPr id="15" name="Text 13"/>
          <p:cNvSpPr txBox="1"/>
          <p:nvPr/>
        </p:nvSpPr>
        <p:spPr>
          <a:xfrm>
            <a:off x="4462272"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14 analysis questions answered with numbers</a:t>
            </a:r>
            <a:endParaRPr lang="en-US" sz="1250" dirty="0"/>
          </a:p>
        </p:txBody>
      </p:sp>
      <p:sp>
        <p:nvSpPr>
          <p:cNvPr id="16" name="phase Engineer"/>
          <p:cNvSpPr/>
          <p:nvPr/>
        </p:nvSpPr>
        <p:spPr>
          <a:xfrm>
            <a:off x="6144768" y="1828800"/>
            <a:ext cx="1755648" cy="2377440"/>
          </a:xfrm>
          <a:prstGeom prst="roundRect">
            <a:avLst>
              <a:gd name="adj" fmla="val 5208"/>
            </a:avLst>
          </a:prstGeom>
          <a:solidFill>
            <a:schemeClr val="tx2"/>
          </a:solidFill>
          <a:ln w="12700">
            <a:solidFill>
              <a:schemeClr val="tx2"/>
            </a:solidFill>
            <a:prstDash val="solid"/>
          </a:ln>
        </p:spPr>
      </p:sp>
      <p:sp>
        <p:nvSpPr>
          <p:cNvPr id="17" name="Text 15"/>
          <p:cNvSpPr txBox="1"/>
          <p:nvPr/>
        </p:nvSpPr>
        <p:spPr>
          <a:xfrm>
            <a:off x="6327648"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04</a:t>
            </a:r>
            <a:endParaRPr lang="en-US" sz="2400" dirty="0"/>
          </a:p>
        </p:txBody>
      </p:sp>
      <p:sp>
        <p:nvSpPr>
          <p:cNvPr id="18" name="Text 16"/>
          <p:cNvSpPr txBox="1"/>
          <p:nvPr/>
        </p:nvSpPr>
        <p:spPr>
          <a:xfrm>
            <a:off x="6327648"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Engineer</a:t>
            </a:r>
            <a:endParaRPr lang="en-US" sz="1800" dirty="0"/>
          </a:p>
        </p:txBody>
      </p:sp>
      <p:sp>
        <p:nvSpPr>
          <p:cNvPr id="19" name="Text 17"/>
          <p:cNvSpPr txBox="1"/>
          <p:nvPr/>
        </p:nvSpPr>
        <p:spPr>
          <a:xfrm>
            <a:off x="6327648"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36 features known at forecast time</a:t>
            </a:r>
            <a:endParaRPr lang="en-US" sz="1250" dirty="0"/>
          </a:p>
        </p:txBody>
      </p:sp>
      <p:sp>
        <p:nvSpPr>
          <p:cNvPr id="20" name="phase Model"/>
          <p:cNvSpPr/>
          <p:nvPr/>
        </p:nvSpPr>
        <p:spPr>
          <a:xfrm>
            <a:off x="8010144" y="1828800"/>
            <a:ext cx="1755648" cy="2377440"/>
          </a:xfrm>
          <a:prstGeom prst="roundRect">
            <a:avLst>
              <a:gd name="adj" fmla="val 5208"/>
            </a:avLst>
          </a:prstGeom>
          <a:solidFill>
            <a:schemeClr val="tx2"/>
          </a:solidFill>
          <a:ln w="12700">
            <a:solidFill>
              <a:schemeClr val="tx2"/>
            </a:solidFill>
            <a:prstDash val="solid"/>
          </a:ln>
        </p:spPr>
      </p:sp>
      <p:sp>
        <p:nvSpPr>
          <p:cNvPr id="21" name="Text 19"/>
          <p:cNvSpPr txBox="1"/>
          <p:nvPr/>
        </p:nvSpPr>
        <p:spPr>
          <a:xfrm>
            <a:off x="8193024"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05</a:t>
            </a:r>
            <a:endParaRPr lang="en-US" sz="2400" dirty="0"/>
          </a:p>
        </p:txBody>
      </p:sp>
      <p:sp>
        <p:nvSpPr>
          <p:cNvPr id="22" name="Text 20"/>
          <p:cNvSpPr txBox="1"/>
          <p:nvPr/>
        </p:nvSpPr>
        <p:spPr>
          <a:xfrm>
            <a:off x="8193024"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Model</a:t>
            </a:r>
            <a:endParaRPr lang="en-US" sz="1800" dirty="0"/>
          </a:p>
        </p:txBody>
      </p:sp>
      <p:sp>
        <p:nvSpPr>
          <p:cNvPr id="23" name="Text 21"/>
          <p:cNvSpPr txBox="1"/>
          <p:nvPr/>
        </p:nvSpPr>
        <p:spPr>
          <a:xfrm>
            <a:off x="8193024"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10 approaches compared, chronological validation</a:t>
            </a:r>
            <a:endParaRPr lang="en-US" sz="1250" dirty="0"/>
          </a:p>
        </p:txBody>
      </p:sp>
      <p:sp>
        <p:nvSpPr>
          <p:cNvPr id="24" name="phase Deliver"/>
          <p:cNvSpPr/>
          <p:nvPr/>
        </p:nvSpPr>
        <p:spPr>
          <a:xfrm>
            <a:off x="9875520" y="1828800"/>
            <a:ext cx="1755648" cy="2377440"/>
          </a:xfrm>
          <a:prstGeom prst="roundRect">
            <a:avLst>
              <a:gd name="adj" fmla="val 5208"/>
            </a:avLst>
          </a:prstGeom>
          <a:solidFill>
            <a:schemeClr val="tx2"/>
          </a:solidFill>
          <a:ln w="12700">
            <a:solidFill>
              <a:schemeClr val="tx2"/>
            </a:solidFill>
            <a:prstDash val="solid"/>
          </a:ln>
        </p:spPr>
      </p:sp>
      <p:sp>
        <p:nvSpPr>
          <p:cNvPr id="25" name="Text 23"/>
          <p:cNvSpPr txBox="1"/>
          <p:nvPr/>
        </p:nvSpPr>
        <p:spPr>
          <a:xfrm>
            <a:off x="10058400"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06</a:t>
            </a:r>
            <a:endParaRPr lang="en-US" sz="2400" dirty="0"/>
          </a:p>
        </p:txBody>
      </p:sp>
      <p:sp>
        <p:nvSpPr>
          <p:cNvPr id="26" name="Text 24"/>
          <p:cNvSpPr txBox="1"/>
          <p:nvPr/>
        </p:nvSpPr>
        <p:spPr>
          <a:xfrm>
            <a:off x="10058400"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Deliver</a:t>
            </a:r>
            <a:endParaRPr lang="en-US" sz="1800" dirty="0"/>
          </a:p>
        </p:txBody>
      </p:sp>
      <p:sp>
        <p:nvSpPr>
          <p:cNvPr id="27" name="Text 25"/>
          <p:cNvSpPr txBox="1"/>
          <p:nvPr/>
        </p:nvSpPr>
        <p:spPr>
          <a:xfrm>
            <a:off x="10058400"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Forecast file, intervals, app, report</a:t>
            </a:r>
            <a:endParaRPr lang="en-US" sz="1250" dirty="0"/>
          </a:p>
        </p:txBody>
      </p:sp>
      <p:sp>
        <p:nvSpPr>
          <p:cNvPr id="28" name="Text 26"/>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GUARDRAILS THROUGHOUT</a:t>
            </a:r>
            <a:endParaRPr lang="en-US" sz="1100" dirty="0"/>
          </a:p>
        </p:txBody>
      </p:sp>
      <p:sp>
        <p:nvSpPr>
          <p:cNvPr id="29" name="guard dot 0"/>
          <p:cNvSpPr/>
          <p:nvPr/>
        </p:nvSpPr>
        <p:spPr>
          <a:xfrm>
            <a:off x="548640" y="5047488"/>
            <a:ext cx="201168" cy="201168"/>
          </a:xfrm>
          <a:prstGeom prst="ellipse">
            <a:avLst/>
          </a:prstGeom>
          <a:solidFill>
            <a:schemeClr val="accent2"/>
          </a:solidFill>
          <a:ln w="12700">
            <a:solidFill>
              <a:schemeClr val="accent2"/>
            </a:solidFill>
            <a:prstDash val="solid"/>
          </a:ln>
        </p:spPr>
      </p:sp>
      <p:sp>
        <p:nvSpPr>
          <p:cNvPr id="30" name="Text 28"/>
          <p:cNvSpPr txBox="1"/>
          <p:nvPr/>
        </p:nvSpPr>
        <p:spPr>
          <a:xfrm>
            <a:off x="868680" y="4956048"/>
            <a:ext cx="2377440" cy="411480"/>
          </a:xfrm>
          <a:prstGeom prst="rect">
            <a:avLst/>
          </a:prstGeom>
          <a:noFill/>
          <a:ln/>
        </p:spPr>
        <p:txBody>
          <a:bodyPr wrap="square" lIns="0" tIns="0" rIns="0" bIns="0" rtlCol="0" anchor="ctr"/>
          <a:lstStyle/>
          <a:p>
            <a:pPr indent="0" marL="0">
              <a:buNone/>
            </a:pPr>
            <a:r>
              <a:rPr lang="en-US" sz="1300" dirty="0">
                <a:solidFill>
                  <a:schemeClr val="bg1"/>
                </a:solidFill>
              </a:rPr>
              <a:t>Only inputs known before the hour</a:t>
            </a:r>
            <a:endParaRPr lang="en-US" sz="1300" dirty="0"/>
          </a:p>
        </p:txBody>
      </p:sp>
      <p:sp>
        <p:nvSpPr>
          <p:cNvPr id="31" name="guard dot 1"/>
          <p:cNvSpPr/>
          <p:nvPr/>
        </p:nvSpPr>
        <p:spPr>
          <a:xfrm>
            <a:off x="3346704" y="5047488"/>
            <a:ext cx="201168" cy="201168"/>
          </a:xfrm>
          <a:prstGeom prst="ellipse">
            <a:avLst/>
          </a:prstGeom>
          <a:solidFill>
            <a:schemeClr val="accent2"/>
          </a:solidFill>
          <a:ln w="12700">
            <a:solidFill>
              <a:schemeClr val="accent2"/>
            </a:solidFill>
            <a:prstDash val="solid"/>
          </a:ln>
        </p:spPr>
      </p:sp>
      <p:sp>
        <p:nvSpPr>
          <p:cNvPr id="32" name="Text 30"/>
          <p:cNvSpPr txBox="1"/>
          <p:nvPr/>
        </p:nvSpPr>
        <p:spPr>
          <a:xfrm>
            <a:off x="3666744" y="4956048"/>
            <a:ext cx="2377440" cy="411480"/>
          </a:xfrm>
          <a:prstGeom prst="rect">
            <a:avLst/>
          </a:prstGeom>
          <a:noFill/>
          <a:ln/>
        </p:spPr>
        <p:txBody>
          <a:bodyPr wrap="square" lIns="0" tIns="0" rIns="0" bIns="0" rtlCol="0" anchor="ctr"/>
          <a:lstStyle/>
          <a:p>
            <a:pPr indent="0" marL="0">
              <a:buNone/>
            </a:pPr>
            <a:r>
              <a:rPr lang="en-US" sz="1300" dirty="0">
                <a:solidFill>
                  <a:schemeClr val="bg1"/>
                </a:solidFill>
              </a:rPr>
              <a:t>Train on the past, test on the future</a:t>
            </a:r>
            <a:endParaRPr lang="en-US" sz="1300" dirty="0"/>
          </a:p>
        </p:txBody>
      </p:sp>
      <p:sp>
        <p:nvSpPr>
          <p:cNvPr id="33" name="guard dot 2"/>
          <p:cNvSpPr/>
          <p:nvPr/>
        </p:nvSpPr>
        <p:spPr>
          <a:xfrm>
            <a:off x="6144768" y="5047488"/>
            <a:ext cx="201168" cy="201168"/>
          </a:xfrm>
          <a:prstGeom prst="ellipse">
            <a:avLst/>
          </a:prstGeom>
          <a:solidFill>
            <a:schemeClr val="accent2"/>
          </a:solidFill>
          <a:ln w="12700">
            <a:solidFill>
              <a:schemeClr val="accent2"/>
            </a:solidFill>
            <a:prstDash val="solid"/>
          </a:ln>
        </p:spPr>
      </p:sp>
      <p:sp>
        <p:nvSpPr>
          <p:cNvPr id="34" name="Text 32"/>
          <p:cNvSpPr txBox="1"/>
          <p:nvPr/>
        </p:nvSpPr>
        <p:spPr>
          <a:xfrm>
            <a:off x="6464808" y="4956048"/>
            <a:ext cx="2377440" cy="411480"/>
          </a:xfrm>
          <a:prstGeom prst="rect">
            <a:avLst/>
          </a:prstGeom>
          <a:noFill/>
          <a:ln/>
        </p:spPr>
        <p:txBody>
          <a:bodyPr wrap="square" lIns="0" tIns="0" rIns="0" bIns="0" rtlCol="0" anchor="ctr"/>
          <a:lstStyle/>
          <a:p>
            <a:pPr indent="0" marL="0">
              <a:buNone/>
            </a:pPr>
            <a:r>
              <a:rPr lang="en-US" sz="1300" dirty="0">
                <a:solidFill>
                  <a:schemeClr val="bg1"/>
                </a:solidFill>
              </a:rPr>
              <a:t>Everything fitted on training data only</a:t>
            </a:r>
            <a:endParaRPr lang="en-US" sz="1300" dirty="0"/>
          </a:p>
        </p:txBody>
      </p:sp>
      <p:sp>
        <p:nvSpPr>
          <p:cNvPr id="35" name="guard dot 3"/>
          <p:cNvSpPr/>
          <p:nvPr/>
        </p:nvSpPr>
        <p:spPr>
          <a:xfrm>
            <a:off x="8942832" y="5047488"/>
            <a:ext cx="201168" cy="201168"/>
          </a:xfrm>
          <a:prstGeom prst="ellipse">
            <a:avLst/>
          </a:prstGeom>
          <a:solidFill>
            <a:schemeClr val="accent2"/>
          </a:solidFill>
          <a:ln w="12700">
            <a:solidFill>
              <a:schemeClr val="accent2"/>
            </a:solidFill>
            <a:prstDash val="solid"/>
          </a:ln>
        </p:spPr>
      </p:sp>
      <p:sp>
        <p:nvSpPr>
          <p:cNvPr id="36" name="Text 34"/>
          <p:cNvSpPr txBox="1"/>
          <p:nvPr/>
        </p:nvSpPr>
        <p:spPr>
          <a:xfrm>
            <a:off x="9262872" y="4956048"/>
            <a:ext cx="2377440" cy="411480"/>
          </a:xfrm>
          <a:prstGeom prst="rect">
            <a:avLst/>
          </a:prstGeom>
          <a:noFill/>
          <a:ln/>
        </p:spPr>
        <p:txBody>
          <a:bodyPr wrap="square" lIns="0" tIns="0" rIns="0" bIns="0" rtlCol="0" anchor="ctr"/>
          <a:lstStyle/>
          <a:p>
            <a:pPr indent="0" marL="0">
              <a:buNone/>
            </a:pPr>
            <a:r>
              <a:rPr lang="en-US" sz="1300" dirty="0">
                <a:solidFill>
                  <a:schemeClr val="bg1"/>
                </a:solidFill>
              </a:rPr>
              <a:t>Every number produced by code, seed 42</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PHASES 1–2 · CLEANING AND INTEGRATION</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Fixing a 3-hour weather clock error revealed the rain effect</a:t>
            </a:r>
            <a:endParaRPr lang="en-US" sz="2600" dirty="0"/>
          </a:p>
        </p:txBody>
      </p:sp>
      <p:sp>
        <p:nvSpPr>
          <p:cNvPr id="4" name="bullets"/>
          <p:cNvSpPr txBox="1"/>
          <p:nvPr/>
        </p:nvSpPr>
        <p:spPr>
          <a:xfrm>
            <a:off x="548640" y="1645920"/>
            <a:ext cx="5120640" cy="3566160"/>
          </a:xfrm>
          <a:prstGeom prst="rect">
            <a:avLst/>
          </a:prstGeom>
          <a:noFill/>
          <a:ln/>
        </p:spPr>
        <p:txBody>
          <a:bodyPr wrap="square" lIns="0" tIns="0" rIns="0" bIns="0" rtlCol="0" anchor="t"/>
          <a:lstStyle/>
          <a:p>
            <a:pPr marL="177800" indent="-177800">
              <a:spcAft>
                <a:spcPts val="700"/>
              </a:spcAft>
              <a:buSzPct val="100000"/>
              <a:buChar char="•"/>
            </a:pPr>
            <a:r>
              <a:rPr lang="en-US" sz="1400" b="1" dirty="0">
                <a:solidFill>
                  <a:schemeClr val="tx1"/>
                </a:solidFill>
              </a:rPr>
              <a:t>28 issues logged </a:t>
            </a:r>
            <a:pPr indent="0" marL="0">
              <a:spcAft>
                <a:spcPts val="700"/>
              </a:spcAft>
              <a:buNone/>
            </a:pPr>
            <a:r>
              <a:rPr lang="en-US" sz="1400" dirty="0">
                <a:solidFill>
                  <a:schemeClr val="tx1"/>
                </a:solidFill>
              </a:rPr>
              <a:t>(11 trips, 8 weather, 9 events), each with a count and a fix.</a:t>
            </a:r>
            <a:endParaRPr lang="en-US" sz="1400" dirty="0"/>
          </a:p>
          <a:p>
            <a:pPr marL="177800" indent="-177800">
              <a:spcAft>
                <a:spcPts val="700"/>
              </a:spcAft>
              <a:buSzPct val="100000"/>
              <a:buChar char="•"/>
            </a:pPr>
            <a:r>
              <a:rPr lang="en-US" sz="1400" b="1" dirty="0">
                <a:solidFill>
                  <a:schemeClr val="tx1"/>
                </a:solidFill>
              </a:rPr>
              <a:t>Export spikes: </a:t>
            </a:r>
            <a:pPr indent="0" marL="0">
              <a:spcAft>
                <a:spcPts val="700"/>
              </a:spcAft>
              <a:buNone/>
            </a:pPr>
            <a:r>
              <a:rPr lang="en-US" sz="1400" dirty="0">
                <a:solidFill>
                  <a:schemeClr val="tx1"/>
                </a:solidFill>
              </a:rPr>
              <a:t>125 trip counts multiplied by 8; divided back, not deleted.</a:t>
            </a:r>
            <a:endParaRPr lang="en-US" sz="1400" dirty="0"/>
          </a:p>
          <a:p>
            <a:pPr marL="177800" indent="-177800">
              <a:spcAft>
                <a:spcPts val="700"/>
              </a:spcAft>
              <a:buSzPct val="100000"/>
              <a:buChar char="•"/>
            </a:pPr>
            <a:r>
              <a:rPr lang="en-US" sz="1400" b="1" dirty="0">
                <a:solidFill>
                  <a:schemeClr val="tx1"/>
                </a:solidFill>
              </a:rPr>
              <a:t>Bad readings: </a:t>
            </a:r>
            <a:pPr indent="0" marL="0">
              <a:spcAft>
                <a:spcPts val="700"/>
              </a:spcAft>
              <a:buNone/>
            </a:pPr>
            <a:r>
              <a:rPr lang="en-US" sz="1400" dirty="0">
                <a:solidFill>
                  <a:schemeClr val="tx1"/>
                </a:solidFill>
              </a:rPr>
              <a:t>−9999 rain codes, a Fahrenheit block in July, duplicate hours with conflicting values.</a:t>
            </a:r>
            <a:endParaRPr lang="en-US" sz="1400" dirty="0"/>
          </a:p>
          <a:p>
            <a:pPr marL="177800" indent="-177800">
              <a:spcAft>
                <a:spcPts val="700"/>
              </a:spcAft>
              <a:buSzPct val="100000"/>
              <a:buChar char="•"/>
            </a:pPr>
            <a:r>
              <a:rPr lang="en-US" sz="1400" b="1" dirty="0">
                <a:solidFill>
                  <a:schemeClr val="tx1"/>
                </a:solidFill>
              </a:rPr>
              <a:t>Messy calendar: </a:t>
            </a:r>
            <a:pPr indent="0" marL="0">
              <a:spcAft>
                <a:spcPts val="700"/>
              </a:spcAft>
              <a:buNone/>
            </a:pPr>
            <a:r>
              <a:rPr lang="en-US" sz="1400" dirty="0">
                <a:solidFill>
                  <a:schemeClr val="tx1"/>
                </a:solidFill>
              </a:rPr>
              <a:t>mixed date formats, misspelt zones, city-wide events, cancelled matches.</a:t>
            </a:r>
            <a:endParaRPr lang="en-US" sz="1400" dirty="0"/>
          </a:p>
          <a:p>
            <a:pPr marL="177800" indent="-177800">
              <a:spcAft>
                <a:spcPts val="700"/>
              </a:spcAft>
              <a:buSzPct val="100000"/>
              <a:buChar char="•"/>
            </a:pPr>
            <a:r>
              <a:rPr lang="en-US" sz="1400" b="1" dirty="0">
                <a:solidFill>
                  <a:schemeClr val="tx1"/>
                </a:solidFill>
              </a:rPr>
              <a:t>Clock: </a:t>
            </a:r>
            <a:pPr indent="0" marL="0">
              <a:spcAft>
                <a:spcPts val="700"/>
              </a:spcAft>
              <a:buNone/>
            </a:pPr>
            <a:r>
              <a:rPr lang="en-US" sz="1400" dirty="0">
                <a:solidFill>
                  <a:schemeClr val="tx1"/>
                </a:solidFill>
              </a:rPr>
              <a:t>weather was in UTC; shifting +3 h to East Africa Time moved the rain–demand correlation from 0.02 to 0.27.</a:t>
            </a:r>
            <a:endParaRPr lang="en-US" sz="1400" dirty="0"/>
          </a:p>
        </p:txBody>
      </p:sp>
      <p:sp>
        <p:nvSpPr>
          <p:cNvPr id="5" name="stat issues fixed"/>
          <p:cNvSpPr/>
          <p:nvPr/>
        </p:nvSpPr>
        <p:spPr>
          <a:xfrm>
            <a:off x="548640" y="5166360"/>
            <a:ext cx="1600200" cy="960120"/>
          </a:xfrm>
          <a:prstGeom prst="roundRect">
            <a:avLst>
              <a:gd name="adj" fmla="val 7619"/>
            </a:avLst>
          </a:prstGeom>
          <a:solidFill>
            <a:schemeClr val="bg2"/>
          </a:solidFill>
          <a:ln w="12700">
            <a:solidFill>
              <a:schemeClr val="bg2"/>
            </a:solidFill>
            <a:prstDash val="solid"/>
          </a:ln>
        </p:spPr>
      </p:sp>
      <p:sp>
        <p:nvSpPr>
          <p:cNvPr id="6" name="Text 4"/>
          <p:cNvSpPr txBox="1"/>
          <p:nvPr/>
        </p:nvSpPr>
        <p:spPr>
          <a:xfrm>
            <a:off x="713232" y="5239512"/>
            <a:ext cx="13258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28</a:t>
            </a:r>
            <a:endParaRPr lang="en-US" sz="2600" dirty="0"/>
          </a:p>
        </p:txBody>
      </p:sp>
      <p:sp>
        <p:nvSpPr>
          <p:cNvPr id="7" name="Text 5"/>
          <p:cNvSpPr txBox="1"/>
          <p:nvPr/>
        </p:nvSpPr>
        <p:spPr>
          <a:xfrm>
            <a:off x="713232" y="5733288"/>
            <a:ext cx="1325880" cy="329184"/>
          </a:xfrm>
          <a:prstGeom prst="rect">
            <a:avLst/>
          </a:prstGeom>
          <a:noFill/>
          <a:ln/>
        </p:spPr>
        <p:txBody>
          <a:bodyPr wrap="square" lIns="0" tIns="0" rIns="0" bIns="0" rtlCol="0" anchor="t"/>
          <a:lstStyle/>
          <a:p>
            <a:pPr indent="0" marL="0">
              <a:buNone/>
            </a:pPr>
            <a:r>
              <a:rPr lang="en-US" sz="1150" dirty="0">
                <a:solidFill>
                  <a:schemeClr val="accent5"/>
                </a:solidFill>
              </a:rPr>
              <a:t>issues fixed</a:t>
            </a:r>
            <a:endParaRPr lang="en-US" sz="1150" dirty="0"/>
          </a:p>
        </p:txBody>
      </p:sp>
      <p:sp>
        <p:nvSpPr>
          <p:cNvPr id="8" name="stat UTC → EAT"/>
          <p:cNvSpPr/>
          <p:nvPr/>
        </p:nvSpPr>
        <p:spPr>
          <a:xfrm>
            <a:off x="2240280" y="5166360"/>
            <a:ext cx="1600200" cy="960120"/>
          </a:xfrm>
          <a:prstGeom prst="roundRect">
            <a:avLst>
              <a:gd name="adj" fmla="val 7619"/>
            </a:avLst>
          </a:prstGeom>
          <a:solidFill>
            <a:schemeClr val="bg2"/>
          </a:solidFill>
          <a:ln w="12700">
            <a:solidFill>
              <a:schemeClr val="bg2"/>
            </a:solidFill>
            <a:prstDash val="solid"/>
          </a:ln>
        </p:spPr>
      </p:sp>
      <p:sp>
        <p:nvSpPr>
          <p:cNvPr id="9" name="Text 7"/>
          <p:cNvSpPr txBox="1"/>
          <p:nvPr/>
        </p:nvSpPr>
        <p:spPr>
          <a:xfrm>
            <a:off x="2404872" y="5239512"/>
            <a:ext cx="13258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+3 h</a:t>
            </a:r>
            <a:endParaRPr lang="en-US" sz="2600" dirty="0"/>
          </a:p>
        </p:txBody>
      </p:sp>
      <p:sp>
        <p:nvSpPr>
          <p:cNvPr id="10" name="Text 8"/>
          <p:cNvSpPr txBox="1"/>
          <p:nvPr/>
        </p:nvSpPr>
        <p:spPr>
          <a:xfrm>
            <a:off x="2404872" y="5733288"/>
            <a:ext cx="1325880" cy="329184"/>
          </a:xfrm>
          <a:prstGeom prst="rect">
            <a:avLst/>
          </a:prstGeom>
          <a:noFill/>
          <a:ln/>
        </p:spPr>
        <p:txBody>
          <a:bodyPr wrap="square" lIns="0" tIns="0" rIns="0" bIns="0" rtlCol="0" anchor="t"/>
          <a:lstStyle/>
          <a:p>
            <a:pPr indent="0" marL="0">
              <a:buNone/>
            </a:pPr>
            <a:r>
              <a:rPr lang="en-US" sz="1150" dirty="0">
                <a:solidFill>
                  <a:schemeClr val="accent5"/>
                </a:solidFill>
              </a:rPr>
              <a:t>UTC → EAT</a:t>
            </a:r>
            <a:endParaRPr lang="en-US" sz="1150" dirty="0"/>
          </a:p>
        </p:txBody>
      </p:sp>
      <p:sp>
        <p:nvSpPr>
          <p:cNvPr id="11" name="stat zone-hours joined"/>
          <p:cNvSpPr/>
          <p:nvPr/>
        </p:nvSpPr>
        <p:spPr>
          <a:xfrm>
            <a:off x="3931920" y="5166360"/>
            <a:ext cx="1737360" cy="960120"/>
          </a:xfrm>
          <a:prstGeom prst="roundRect">
            <a:avLst>
              <a:gd name="adj" fmla="val 7619"/>
            </a:avLst>
          </a:prstGeom>
          <a:solidFill>
            <a:schemeClr val="bg2"/>
          </a:solidFill>
          <a:ln w="12700">
            <a:solidFill>
              <a:schemeClr val="bg2"/>
            </a:solidFill>
            <a:prstDash val="solid"/>
          </a:ln>
        </p:spPr>
      </p:sp>
      <p:sp>
        <p:nvSpPr>
          <p:cNvPr id="12" name="Text 10"/>
          <p:cNvSpPr txBox="1"/>
          <p:nvPr/>
        </p:nvSpPr>
        <p:spPr>
          <a:xfrm>
            <a:off x="4096512" y="5239512"/>
            <a:ext cx="146304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100%</a:t>
            </a:r>
            <a:endParaRPr lang="en-US" sz="2600" dirty="0"/>
          </a:p>
        </p:txBody>
      </p:sp>
      <p:sp>
        <p:nvSpPr>
          <p:cNvPr id="13" name="Text 11"/>
          <p:cNvSpPr txBox="1"/>
          <p:nvPr/>
        </p:nvSpPr>
        <p:spPr>
          <a:xfrm>
            <a:off x="4096512" y="5733288"/>
            <a:ext cx="1463040" cy="329184"/>
          </a:xfrm>
          <a:prstGeom prst="rect">
            <a:avLst/>
          </a:prstGeom>
          <a:noFill/>
          <a:ln/>
        </p:spPr>
        <p:txBody>
          <a:bodyPr wrap="square" lIns="0" tIns="0" rIns="0" bIns="0" rtlCol="0" anchor="t"/>
          <a:lstStyle/>
          <a:p>
            <a:pPr indent="0" marL="0">
              <a:buNone/>
            </a:pPr>
            <a:r>
              <a:rPr lang="en-US" sz="1150" dirty="0">
                <a:solidFill>
                  <a:schemeClr val="accent5"/>
                </a:solidFill>
              </a:rPr>
              <a:t>zone-hours joined</a:t>
            </a:r>
            <a:endParaRPr lang="en-US" sz="1150" dirty="0"/>
          </a:p>
        </p:txBody>
      </p:sp>
      <p:pic>
        <p:nvPicPr>
          <p:cNvPr id="14" name="fig06 weather clock check" descr="fig06 weather clock check">    </p:cNvPr>
          <p:cNvPicPr>
            <a:picLocks noChangeAspect="1"/>
          </p:cNvPicPr>
          <p:nvPr/>
        </p:nvPicPr>
        <p:blipFill>
          <a:blip r:embed="rId1"/>
          <a:stretch>
            <a:fillRect/>
          </a:stretch>
        </p:blipFill>
        <p:spPr>
          <a:xfrm>
            <a:off x="6035040" y="2295688"/>
            <a:ext cx="5605272" cy="2083744"/>
          </a:xfrm>
          <a:prstGeom prst="rect">
            <a:avLst/>
          </a:prstGeom>
        </p:spPr>
      </p:pic>
      <p:sp>
        <p:nvSpPr>
          <p:cNvPr id="15" name="Text 12"/>
          <p:cNvSpPr txBox="1"/>
          <p:nvPr/>
        </p:nvSpPr>
        <p:spPr>
          <a:xfrm>
            <a:off x="6035040" y="5074920"/>
            <a:ext cx="5577840" cy="256032"/>
          </a:xfrm>
          <a:prstGeom prst="rect">
            <a:avLst/>
          </a:prstGeom>
          <a:noFill/>
          <a:ln/>
        </p:spPr>
        <p:txBody>
          <a:bodyPr wrap="square" lIns="0" tIns="0" rIns="0" bIns="0" rtlCol="0" anchor="ctr"/>
          <a:lstStyle/>
          <a:p>
            <a:pPr indent="0" marL="0">
              <a:buNone/>
            </a:pPr>
            <a:r>
              <a:rPr lang="en-US" sz="1050" i="1" dirty="0">
                <a:solidFill>
                  <a:schemeClr val="accent5"/>
                </a:solidFill>
              </a:rPr>
              <a:t>fig06 · Temperature peaks at 15:00 only after the +3 h shift (left); the rain signal is strongest at exactly +3 h (right).</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 3 · EXPLORATORY ANALYSIS</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Demand grew 40% this year, and each zone has its own rhythm</a:t>
            </a:r>
            <a:endParaRPr lang="en-US" sz="2600" dirty="0"/>
          </a:p>
        </p:txBody>
      </p:sp>
      <p:pic>
        <p:nvPicPr>
          <p:cNvPr id="4" name="fig03 demand trend" descr="fig03 demand trend">    </p:cNvPr>
          <p:cNvPicPr>
            <a:picLocks noChangeAspect="1"/>
          </p:cNvPicPr>
          <p:nvPr/>
        </p:nvPicPr>
        <p:blipFill>
          <a:blip r:embed="rId1"/>
          <a:stretch>
            <a:fillRect/>
          </a:stretch>
        </p:blipFill>
        <p:spPr>
          <a:xfrm>
            <a:off x="548640" y="1690007"/>
            <a:ext cx="6766560" cy="3020786"/>
          </a:xfrm>
          <a:prstGeom prst="rect">
            <a:avLst/>
          </a:prstGeom>
        </p:spPr>
      </p:pic>
      <p:sp>
        <p:nvSpPr>
          <p:cNvPr id="5" name="Text 2"/>
          <p:cNvSpPr txBox="1"/>
          <p:nvPr/>
        </p:nvSpPr>
        <p:spPr>
          <a:xfrm>
            <a:off x="548640" y="4800600"/>
            <a:ext cx="6766560" cy="256032"/>
          </a:xfrm>
          <a:prstGeom prst="rect">
            <a:avLst/>
          </a:prstGeom>
          <a:noFill/>
          <a:ln/>
        </p:spPr>
        <p:txBody>
          <a:bodyPr wrap="square" lIns="0" tIns="0" rIns="0" bIns="0" rtlCol="0" anchor="ctr"/>
          <a:lstStyle/>
          <a:p>
            <a:pPr indent="0" marL="0">
              <a:buNone/>
            </a:pPr>
            <a:r>
              <a:rPr lang="en-US" sz="1050" i="1" dirty="0">
                <a:solidFill>
                  <a:schemeClr val="accent5"/>
                </a:solidFill>
              </a:rPr>
              <a:t>fig03 · City-wide daily trips, Jan–Oct 2025, with holidays marked.</a:t>
            </a:r>
            <a:endParaRPr lang="en-US" sz="1050" dirty="0"/>
          </a:p>
        </p:txBody>
      </p:sp>
      <p:sp>
        <p:nvSpPr>
          <p:cNvPr id="6" name="bullets"/>
          <p:cNvSpPr txBox="1"/>
          <p:nvPr/>
        </p:nvSpPr>
        <p:spPr>
          <a:xfrm>
            <a:off x="7635240" y="1691640"/>
            <a:ext cx="4023360" cy="4206240"/>
          </a:xfrm>
          <a:prstGeom prst="rect">
            <a:avLst/>
          </a:prstGeom>
          <a:noFill/>
          <a:ln/>
        </p:spPr>
        <p:txBody>
          <a:bodyPr wrap="square" lIns="0" tIns="0" rIns="0" bIns="0" rtlCol="0" anchor="t"/>
          <a:lstStyle/>
          <a:p>
            <a:pPr marL="177800" indent="-177800">
              <a:spcAft>
                <a:spcPts val="700"/>
              </a:spcAft>
              <a:buSzPct val="100000"/>
              <a:buChar char="•"/>
            </a:pPr>
            <a:r>
              <a:rPr lang="en-US" sz="1400" b="1" dirty="0">
                <a:solidFill>
                  <a:schemeClr val="tx1"/>
                </a:solidFill>
              </a:rPr>
              <a:t>Growth: </a:t>
            </a:r>
            <a:pPr indent="0" marL="0">
              <a:spcAft>
                <a:spcPts val="700"/>
              </a:spcAft>
              <a:buNone/>
            </a:pPr>
            <a:r>
              <a:rPr lang="en-US" sz="1400" dirty="0">
                <a:solidFill>
                  <a:schemeClr val="tx1"/>
                </a:solidFill>
              </a:rPr>
              <a:t>about +40% from January to October, so November should run above October.</a:t>
            </a:r>
            <a:endParaRPr lang="en-US" sz="1400" dirty="0"/>
          </a:p>
          <a:p>
            <a:pPr marL="177800" indent="-177800">
              <a:spcAft>
                <a:spcPts val="700"/>
              </a:spcAft>
              <a:buSzPct val="100000"/>
              <a:buChar char="•"/>
            </a:pPr>
            <a:r>
              <a:rPr lang="en-US" sz="1400" b="1" dirty="0">
                <a:solidFill>
                  <a:schemeClr val="tx1"/>
                </a:solidFill>
              </a:rPr>
              <a:t>Rhythm: </a:t>
            </a:r>
            <a:pPr indent="0" marL="0">
              <a:spcAft>
                <a:spcPts val="700"/>
              </a:spcAft>
              <a:buNone/>
            </a:pPr>
            <a:r>
              <a:rPr lang="en-US" sz="1400" dirty="0">
                <a:solidFill>
                  <a:schemeClr val="tx1"/>
                </a:solidFill>
              </a:rPr>
              <a:t>business districts peak at 08:00 and 18:00; residential zones earlier in the morning; the market at midday.</a:t>
            </a:r>
            <a:endParaRPr lang="en-US" sz="1400" dirty="0"/>
          </a:p>
          <a:p>
            <a:pPr marL="177800" indent="-177800">
              <a:spcAft>
                <a:spcPts val="700"/>
              </a:spcAft>
              <a:buSzPct val="100000"/>
              <a:buChar char="•"/>
            </a:pPr>
            <a:r>
              <a:rPr lang="en-US" sz="1400" b="1" dirty="0">
                <a:solidFill>
                  <a:schemeClr val="tx1"/>
                </a:solidFill>
              </a:rPr>
              <a:t>Leaders: </a:t>
            </a:r>
            <a:pPr indent="0" marL="0">
              <a:spcAft>
                <a:spcPts val="700"/>
              </a:spcAft>
              <a:buNone/>
            </a:pPr>
            <a:r>
              <a:rPr lang="en-US" sz="1400" dirty="0">
                <a:solidFill>
                  <a:schemeClr val="tx1"/>
                </a:solidFill>
              </a:rPr>
              <a:t>Merkato, Bole and Megenagna carry 35% of all trips.</a:t>
            </a:r>
            <a:endParaRPr lang="en-US" sz="1400" dirty="0"/>
          </a:p>
          <a:p>
            <a:pPr marL="177800" indent="-177800">
              <a:spcAft>
                <a:spcPts val="700"/>
              </a:spcAft>
              <a:buSzPct val="100000"/>
              <a:buChar char="•"/>
            </a:pPr>
            <a:r>
              <a:rPr lang="en-US" sz="1400" b="1" dirty="0">
                <a:solidFill>
                  <a:schemeClr val="tx1"/>
                </a:solidFill>
              </a:rPr>
              <a:t>Holidays: </a:t>
            </a:r>
            <a:pPr indent="0" marL="0">
              <a:spcAft>
                <a:spcPts val="700"/>
              </a:spcAft>
              <a:buNone/>
            </a:pPr>
            <a:r>
              <a:rPr lang="en-US" sz="1400" dirty="0">
                <a:solidFill>
                  <a:schemeClr val="tx1"/>
                </a:solidFill>
              </a:rPr>
              <a:t>8 of 13 cut demand by more than 5%; the eve before a holiday often surges.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 3 · WHAT MOVES DEMAND</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Rain and football move demand most, differently by zone</a:t>
            </a:r>
            <a:endParaRPr lang="en-US" sz="2600" dirty="0"/>
          </a:p>
        </p:txBody>
      </p:sp>
      <p:pic>
        <p:nvPicPr>
          <p:cNvPr id="4" name="fig07 rain effect" descr="fig07 rain effect">    </p:cNvPr>
          <p:cNvPicPr>
            <a:picLocks noChangeAspect="1"/>
          </p:cNvPicPr>
          <p:nvPr/>
        </p:nvPicPr>
        <p:blipFill>
          <a:blip r:embed="rId1"/>
          <a:stretch>
            <a:fillRect/>
          </a:stretch>
        </p:blipFill>
        <p:spPr>
          <a:xfrm>
            <a:off x="579501" y="1645920"/>
            <a:ext cx="5378958" cy="2971800"/>
          </a:xfrm>
          <a:prstGeom prst="rect">
            <a:avLst/>
          </a:prstGeom>
        </p:spPr>
      </p:pic>
      <p:sp>
        <p:nvSpPr>
          <p:cNvPr id="5" name="Text 2"/>
          <p:cNvSpPr txBox="1"/>
          <p:nvPr/>
        </p:nvSpPr>
        <p:spPr>
          <a:xfrm>
            <a:off x="548640" y="4645152"/>
            <a:ext cx="5440680" cy="256032"/>
          </a:xfrm>
          <a:prstGeom prst="rect">
            <a:avLst/>
          </a:prstGeom>
          <a:noFill/>
          <a:ln/>
        </p:spPr>
        <p:txBody>
          <a:bodyPr wrap="square" lIns="0" tIns="0" rIns="0" bIns="0" rtlCol="0" anchor="ctr"/>
          <a:lstStyle/>
          <a:p>
            <a:pPr indent="0" marL="0">
              <a:buNone/>
            </a:pPr>
            <a:r>
              <a:rPr lang="en-US" sz="1050" i="1" dirty="0">
                <a:solidFill>
                  <a:schemeClr val="accent5"/>
                </a:solidFill>
              </a:rPr>
              <a:t>fig07 · Demand vs a dry hour, by rain intensity and zone type.</a:t>
            </a:r>
            <a:endParaRPr lang="en-US" sz="1050" dirty="0"/>
          </a:p>
        </p:txBody>
      </p:sp>
      <p:pic>
        <p:nvPicPr>
          <p:cNvPr id="6" name="fig08 event study" descr="fig08 event study">    </p:cNvPr>
          <p:cNvPicPr>
            <a:picLocks noChangeAspect="1"/>
          </p:cNvPicPr>
          <p:nvPr/>
        </p:nvPicPr>
        <p:blipFill>
          <a:blip r:embed="rId2"/>
          <a:stretch>
            <a:fillRect/>
          </a:stretch>
        </p:blipFill>
        <p:spPr>
          <a:xfrm>
            <a:off x="6199632" y="1722317"/>
            <a:ext cx="5440680" cy="2819005"/>
          </a:xfrm>
          <a:prstGeom prst="rect">
            <a:avLst/>
          </a:prstGeom>
        </p:spPr>
      </p:pic>
      <p:sp>
        <p:nvSpPr>
          <p:cNvPr id="7" name="Text 3"/>
          <p:cNvSpPr txBox="1"/>
          <p:nvPr/>
        </p:nvSpPr>
        <p:spPr>
          <a:xfrm>
            <a:off x="6199632" y="4645152"/>
            <a:ext cx="5440680" cy="256032"/>
          </a:xfrm>
          <a:prstGeom prst="rect">
            <a:avLst/>
          </a:prstGeom>
          <a:noFill/>
          <a:ln/>
        </p:spPr>
        <p:txBody>
          <a:bodyPr wrap="square" lIns="0" tIns="0" rIns="0" bIns="0" rtlCol="0" anchor="ctr"/>
          <a:lstStyle/>
          <a:p>
            <a:pPr indent="0" marL="0">
              <a:buNone/>
            </a:pPr>
            <a:r>
              <a:rPr lang="en-US" sz="1050" i="1" dirty="0">
                <a:solidFill>
                  <a:schemeClr val="accent5"/>
                </a:solidFill>
              </a:rPr>
              <a:t>fig08 · Demand around event start times, vs the same hour without an event.</a:t>
            </a:r>
            <a:endParaRPr lang="en-US" sz="1050" dirty="0"/>
          </a:p>
        </p:txBody>
      </p:sp>
      <p:sp>
        <p:nvSpPr>
          <p:cNvPr id="8" name="stat heavy rain, most zones"/>
          <p:cNvSpPr/>
          <p:nvPr/>
        </p:nvSpPr>
        <p:spPr>
          <a:xfrm>
            <a:off x="548640" y="5029200"/>
            <a:ext cx="2651760" cy="960120"/>
          </a:xfrm>
          <a:prstGeom prst="roundRect">
            <a:avLst>
              <a:gd name="adj" fmla="val 7619"/>
            </a:avLst>
          </a:prstGeom>
          <a:solidFill>
            <a:schemeClr val="bg2"/>
          </a:solidFill>
          <a:ln w="12700">
            <a:solidFill>
              <a:schemeClr val="bg2"/>
            </a:solidFill>
            <a:prstDash val="solid"/>
          </a:ln>
        </p:spPr>
      </p:sp>
      <p:sp>
        <p:nvSpPr>
          <p:cNvPr id="9" name="Text 5"/>
          <p:cNvSpPr txBox="1"/>
          <p:nvPr/>
        </p:nvSpPr>
        <p:spPr>
          <a:xfrm>
            <a:off x="713232" y="5102352"/>
            <a:ext cx="237744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+64%</a:t>
            </a:r>
            <a:endParaRPr lang="en-US" sz="2600" dirty="0"/>
          </a:p>
        </p:txBody>
      </p:sp>
      <p:sp>
        <p:nvSpPr>
          <p:cNvPr id="10" name="Text 6"/>
          <p:cNvSpPr txBox="1"/>
          <p:nvPr/>
        </p:nvSpPr>
        <p:spPr>
          <a:xfrm>
            <a:off x="713232" y="5596128"/>
            <a:ext cx="2377440" cy="329184"/>
          </a:xfrm>
          <a:prstGeom prst="rect">
            <a:avLst/>
          </a:prstGeom>
          <a:noFill/>
          <a:ln/>
        </p:spPr>
        <p:txBody>
          <a:bodyPr wrap="square" lIns="0" tIns="0" rIns="0" bIns="0" rtlCol="0" anchor="t"/>
          <a:lstStyle/>
          <a:p>
            <a:pPr indent="0" marL="0">
              <a:buNone/>
            </a:pPr>
            <a:r>
              <a:rPr lang="en-US" sz="1150" dirty="0">
                <a:solidFill>
                  <a:schemeClr val="accent5"/>
                </a:solidFill>
              </a:rPr>
              <a:t>heavy rain, most zones</a:t>
            </a:r>
            <a:endParaRPr lang="en-US" sz="1150" dirty="0"/>
          </a:p>
        </p:txBody>
      </p:sp>
      <p:sp>
        <p:nvSpPr>
          <p:cNvPr id="11" name="stat heavy rain, Merkato (open market)"/>
          <p:cNvSpPr/>
          <p:nvPr/>
        </p:nvSpPr>
        <p:spPr>
          <a:xfrm>
            <a:off x="3337560" y="5029200"/>
            <a:ext cx="2651760" cy="960120"/>
          </a:xfrm>
          <a:prstGeom prst="roundRect">
            <a:avLst>
              <a:gd name="adj" fmla="val 7619"/>
            </a:avLst>
          </a:prstGeom>
          <a:solidFill>
            <a:schemeClr val="bg2"/>
          </a:solidFill>
          <a:ln w="12700">
            <a:solidFill>
              <a:schemeClr val="bg2"/>
            </a:solidFill>
            <a:prstDash val="solid"/>
          </a:ln>
        </p:spPr>
      </p:sp>
      <p:sp>
        <p:nvSpPr>
          <p:cNvPr id="12" name="Text 8"/>
          <p:cNvSpPr txBox="1"/>
          <p:nvPr/>
        </p:nvSpPr>
        <p:spPr>
          <a:xfrm>
            <a:off x="3502152" y="5102352"/>
            <a:ext cx="2377440" cy="502920"/>
          </a:xfrm>
          <a:prstGeom prst="rect">
            <a:avLst/>
          </a:prstGeom>
          <a:noFill/>
          <a:ln/>
        </p:spPr>
        <p:txBody>
          <a:bodyPr wrap="square" lIns="0" tIns="0" rIns="0" bIns="0" rtlCol="0" anchor="ctr"/>
          <a:lstStyle/>
          <a:p>
            <a:pPr indent="0" marL="0">
              <a:buNone/>
            </a:pPr>
            <a:r>
              <a:rPr lang="en-US" sz="2600" b="1" dirty="0">
                <a:solidFill>
                  <a:schemeClr val="accent4"/>
                </a:solidFill>
                <a:latin typeface="Arial" pitchFamily="34" charset="0"/>
                <a:ea typeface="Arial" pitchFamily="34" charset="-122"/>
                <a:cs typeface="Arial" pitchFamily="34" charset="-120"/>
              </a:rPr>
              <a:t>−42%</a:t>
            </a:r>
            <a:endParaRPr lang="en-US" sz="2600" dirty="0"/>
          </a:p>
        </p:txBody>
      </p:sp>
      <p:sp>
        <p:nvSpPr>
          <p:cNvPr id="13" name="Text 9"/>
          <p:cNvSpPr txBox="1"/>
          <p:nvPr/>
        </p:nvSpPr>
        <p:spPr>
          <a:xfrm>
            <a:off x="3502152" y="5596128"/>
            <a:ext cx="2377440" cy="329184"/>
          </a:xfrm>
          <a:prstGeom prst="rect">
            <a:avLst/>
          </a:prstGeom>
          <a:noFill/>
          <a:ln/>
        </p:spPr>
        <p:txBody>
          <a:bodyPr wrap="square" lIns="0" tIns="0" rIns="0" bIns="0" rtlCol="0" anchor="t"/>
          <a:lstStyle/>
          <a:p>
            <a:pPr indent="0" marL="0">
              <a:buNone/>
            </a:pPr>
            <a:r>
              <a:rPr lang="en-US" sz="1150" dirty="0">
                <a:solidFill>
                  <a:schemeClr val="accent5"/>
                </a:solidFill>
              </a:rPr>
              <a:t>heavy rain, Merkato (open market)</a:t>
            </a:r>
            <a:endParaRPr lang="en-US" sz="1150" dirty="0"/>
          </a:p>
        </p:txBody>
      </p:sp>
      <p:sp>
        <p:nvSpPr>
          <p:cNvPr id="14" name="stat 2 h after a football match"/>
          <p:cNvSpPr/>
          <p:nvPr/>
        </p:nvSpPr>
        <p:spPr>
          <a:xfrm>
            <a:off x="6199632" y="5029200"/>
            <a:ext cx="2651760" cy="960120"/>
          </a:xfrm>
          <a:prstGeom prst="roundRect">
            <a:avLst>
              <a:gd name="adj" fmla="val 7619"/>
            </a:avLst>
          </a:prstGeom>
          <a:solidFill>
            <a:schemeClr val="bg2"/>
          </a:solidFill>
          <a:ln w="12700">
            <a:solidFill>
              <a:schemeClr val="bg2"/>
            </a:solidFill>
            <a:prstDash val="solid"/>
          </a:ln>
        </p:spPr>
      </p:sp>
      <p:sp>
        <p:nvSpPr>
          <p:cNvPr id="15" name="Text 11"/>
          <p:cNvSpPr txBox="1"/>
          <p:nvPr/>
        </p:nvSpPr>
        <p:spPr>
          <a:xfrm>
            <a:off x="6364224" y="5102352"/>
            <a:ext cx="237744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+127%</a:t>
            </a:r>
            <a:endParaRPr lang="en-US" sz="2600" dirty="0"/>
          </a:p>
        </p:txBody>
      </p:sp>
      <p:sp>
        <p:nvSpPr>
          <p:cNvPr id="16" name="Text 12"/>
          <p:cNvSpPr txBox="1"/>
          <p:nvPr/>
        </p:nvSpPr>
        <p:spPr>
          <a:xfrm>
            <a:off x="6364224" y="5596128"/>
            <a:ext cx="2377440" cy="329184"/>
          </a:xfrm>
          <a:prstGeom prst="rect">
            <a:avLst/>
          </a:prstGeom>
          <a:noFill/>
          <a:ln/>
        </p:spPr>
        <p:txBody>
          <a:bodyPr wrap="square" lIns="0" tIns="0" rIns="0" bIns="0" rtlCol="0" anchor="t"/>
          <a:lstStyle/>
          <a:p>
            <a:pPr indent="0" marL="0">
              <a:buNone/>
            </a:pPr>
            <a:r>
              <a:rPr lang="en-US" sz="1150" dirty="0">
                <a:solidFill>
                  <a:schemeClr val="accent5"/>
                </a:solidFill>
              </a:rPr>
              <a:t>2 h after a football match</a:t>
            </a:r>
            <a:endParaRPr lang="en-US" sz="1150" dirty="0"/>
          </a:p>
        </p:txBody>
      </p:sp>
      <p:sp>
        <p:nvSpPr>
          <p:cNvPr id="17" name="stat during road closures"/>
          <p:cNvSpPr/>
          <p:nvPr/>
        </p:nvSpPr>
        <p:spPr>
          <a:xfrm>
            <a:off x="8988552" y="5029200"/>
            <a:ext cx="2651760" cy="960120"/>
          </a:xfrm>
          <a:prstGeom prst="roundRect">
            <a:avLst>
              <a:gd name="adj" fmla="val 7619"/>
            </a:avLst>
          </a:prstGeom>
          <a:solidFill>
            <a:schemeClr val="bg2"/>
          </a:solidFill>
          <a:ln w="12700">
            <a:solidFill>
              <a:schemeClr val="bg2"/>
            </a:solidFill>
            <a:prstDash val="solid"/>
          </a:ln>
        </p:spPr>
      </p:sp>
      <p:sp>
        <p:nvSpPr>
          <p:cNvPr id="18" name="Text 14"/>
          <p:cNvSpPr txBox="1"/>
          <p:nvPr/>
        </p:nvSpPr>
        <p:spPr>
          <a:xfrm>
            <a:off x="9153144" y="5102352"/>
            <a:ext cx="2377440" cy="502920"/>
          </a:xfrm>
          <a:prstGeom prst="rect">
            <a:avLst/>
          </a:prstGeom>
          <a:noFill/>
          <a:ln/>
        </p:spPr>
        <p:txBody>
          <a:bodyPr wrap="square" lIns="0" tIns="0" rIns="0" bIns="0" rtlCol="0" anchor="ctr"/>
          <a:lstStyle/>
          <a:p>
            <a:pPr indent="0" marL="0">
              <a:buNone/>
            </a:pPr>
            <a:r>
              <a:rPr lang="en-US" sz="2600" b="1" dirty="0">
                <a:solidFill>
                  <a:schemeClr val="accent4"/>
                </a:solidFill>
                <a:latin typeface="Arial" pitchFamily="34" charset="0"/>
                <a:ea typeface="Arial" pitchFamily="34" charset="-122"/>
                <a:cs typeface="Arial" pitchFamily="34" charset="-120"/>
              </a:rPr>
              <a:t>−34%</a:t>
            </a:r>
            <a:endParaRPr lang="en-US" sz="2600" dirty="0"/>
          </a:p>
        </p:txBody>
      </p:sp>
      <p:sp>
        <p:nvSpPr>
          <p:cNvPr id="19" name="Text 15"/>
          <p:cNvSpPr txBox="1"/>
          <p:nvPr/>
        </p:nvSpPr>
        <p:spPr>
          <a:xfrm>
            <a:off x="9153144" y="5596128"/>
            <a:ext cx="2377440" cy="329184"/>
          </a:xfrm>
          <a:prstGeom prst="rect">
            <a:avLst/>
          </a:prstGeom>
          <a:noFill/>
          <a:ln/>
        </p:spPr>
        <p:txBody>
          <a:bodyPr wrap="square" lIns="0" tIns="0" rIns="0" bIns="0" rtlCol="0" anchor="t"/>
          <a:lstStyle/>
          <a:p>
            <a:pPr indent="0" marL="0">
              <a:buNone/>
            </a:pPr>
            <a:r>
              <a:rPr lang="en-US" sz="1150" dirty="0">
                <a:solidFill>
                  <a:schemeClr val="accent5"/>
                </a:solidFill>
              </a:rPr>
              <a:t>during road closures</a:t>
            </a:r>
            <a:endParaRPr lang="en-US" sz="11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PHASES 4–5 · FEATURES AND MODELLING</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Tuned LightGBM beats every baseline; weather and events add 12%</a:t>
            </a:r>
            <a:endParaRPr lang="en-US" sz="2600" dirty="0"/>
          </a:p>
        </p:txBody>
      </p:sp>
      <p:pic>
        <p:nvPicPr>
          <p:cNvPr id="4" name="fig10 model comparison" descr="fig10 model comparison">    </p:cNvPr>
          <p:cNvPicPr>
            <a:picLocks noChangeAspect="1"/>
          </p:cNvPicPr>
          <p:nvPr/>
        </p:nvPicPr>
        <p:blipFill>
          <a:blip r:embed="rId1"/>
          <a:stretch>
            <a:fillRect/>
          </a:stretch>
        </p:blipFill>
        <p:spPr>
          <a:xfrm>
            <a:off x="548640" y="1782731"/>
            <a:ext cx="6949440" cy="2652458"/>
          </a:xfrm>
          <a:prstGeom prst="rect">
            <a:avLst/>
          </a:prstGeom>
        </p:spPr>
      </p:pic>
      <p:sp>
        <p:nvSpPr>
          <p:cNvPr id="5" name="Text 2"/>
          <p:cNvSpPr txBox="1"/>
          <p:nvPr/>
        </p:nvSpPr>
        <p:spPr>
          <a:xfrm>
            <a:off x="548640" y="4617720"/>
            <a:ext cx="6949440" cy="256032"/>
          </a:xfrm>
          <a:prstGeom prst="rect">
            <a:avLst/>
          </a:prstGeom>
          <a:noFill/>
          <a:ln/>
        </p:spPr>
        <p:txBody>
          <a:bodyPr wrap="square" lIns="0" tIns="0" rIns="0" bIns="0" rtlCol="0" anchor="ctr"/>
          <a:lstStyle/>
          <a:p>
            <a:pPr indent="0" marL="0">
              <a:buNone/>
            </a:pPr>
            <a:r>
              <a:rPr lang="en-US" sz="1050" i="1" dirty="0">
                <a:solidFill>
                  <a:schemeClr val="accent5"/>
                </a:solidFill>
              </a:rPr>
              <a:t>fig10 · Validation RMSE on 18–31 Oct (bars) and spread over five rolling 14-day folds (diamonds). Lower is better.</a:t>
            </a:r>
            <a:endParaRPr lang="en-US" sz="1050" dirty="0"/>
          </a:p>
        </p:txBody>
      </p:sp>
      <p:sp>
        <p:nvSpPr>
          <p:cNvPr id="6" name="stat RMSE, 18–31 Oct"/>
          <p:cNvSpPr/>
          <p:nvPr/>
        </p:nvSpPr>
        <p:spPr>
          <a:xfrm>
            <a:off x="7818120" y="1691640"/>
            <a:ext cx="1828800" cy="960120"/>
          </a:xfrm>
          <a:prstGeom prst="roundRect">
            <a:avLst>
              <a:gd name="adj" fmla="val 7619"/>
            </a:avLst>
          </a:prstGeom>
          <a:solidFill>
            <a:schemeClr val="bg2"/>
          </a:solidFill>
          <a:ln w="12700">
            <a:solidFill>
              <a:schemeClr val="bg2"/>
            </a:solidFill>
            <a:prstDash val="solid"/>
          </a:ln>
        </p:spPr>
      </p:sp>
      <p:sp>
        <p:nvSpPr>
          <p:cNvPr id="7" name="Text 4"/>
          <p:cNvSpPr txBox="1"/>
          <p:nvPr/>
        </p:nvSpPr>
        <p:spPr>
          <a:xfrm>
            <a:off x="7982712" y="1764792"/>
            <a:ext cx="15544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8.09</a:t>
            </a:r>
            <a:endParaRPr lang="en-US" sz="2600" dirty="0"/>
          </a:p>
        </p:txBody>
      </p:sp>
      <p:sp>
        <p:nvSpPr>
          <p:cNvPr id="8" name="Text 5"/>
          <p:cNvSpPr txBox="1"/>
          <p:nvPr/>
        </p:nvSpPr>
        <p:spPr>
          <a:xfrm>
            <a:off x="7982712" y="2258568"/>
            <a:ext cx="1554480" cy="329184"/>
          </a:xfrm>
          <a:prstGeom prst="rect">
            <a:avLst/>
          </a:prstGeom>
          <a:noFill/>
          <a:ln/>
        </p:spPr>
        <p:txBody>
          <a:bodyPr wrap="square" lIns="0" tIns="0" rIns="0" bIns="0" rtlCol="0" anchor="t"/>
          <a:lstStyle/>
          <a:p>
            <a:pPr indent="0" marL="0">
              <a:buNone/>
            </a:pPr>
            <a:r>
              <a:rPr lang="en-US" sz="1150" dirty="0">
                <a:solidFill>
                  <a:schemeClr val="accent5"/>
                </a:solidFill>
              </a:rPr>
              <a:t>RMSE, 18–31 Oct</a:t>
            </a:r>
            <a:endParaRPr lang="en-US" sz="1150" dirty="0"/>
          </a:p>
        </p:txBody>
      </p:sp>
      <p:sp>
        <p:nvSpPr>
          <p:cNvPr id="9" name="stat vs best baseline (9.94)"/>
          <p:cNvSpPr/>
          <p:nvPr/>
        </p:nvSpPr>
        <p:spPr>
          <a:xfrm>
            <a:off x="9784080" y="1691640"/>
            <a:ext cx="1856232" cy="960120"/>
          </a:xfrm>
          <a:prstGeom prst="roundRect">
            <a:avLst>
              <a:gd name="adj" fmla="val 7619"/>
            </a:avLst>
          </a:prstGeom>
          <a:solidFill>
            <a:schemeClr val="bg2"/>
          </a:solidFill>
          <a:ln w="12700">
            <a:solidFill>
              <a:schemeClr val="bg2"/>
            </a:solidFill>
            <a:prstDash val="solid"/>
          </a:ln>
        </p:spPr>
      </p:sp>
      <p:sp>
        <p:nvSpPr>
          <p:cNvPr id="10" name="Text 7"/>
          <p:cNvSpPr txBox="1"/>
          <p:nvPr/>
        </p:nvSpPr>
        <p:spPr>
          <a:xfrm>
            <a:off x="9948672" y="1764792"/>
            <a:ext cx="1581912"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−19%</a:t>
            </a:r>
            <a:endParaRPr lang="en-US" sz="2600" dirty="0"/>
          </a:p>
        </p:txBody>
      </p:sp>
      <p:sp>
        <p:nvSpPr>
          <p:cNvPr id="11" name="Text 8"/>
          <p:cNvSpPr txBox="1"/>
          <p:nvPr/>
        </p:nvSpPr>
        <p:spPr>
          <a:xfrm>
            <a:off x="9948672" y="2258568"/>
            <a:ext cx="1581912" cy="329184"/>
          </a:xfrm>
          <a:prstGeom prst="rect">
            <a:avLst/>
          </a:prstGeom>
          <a:noFill/>
          <a:ln/>
        </p:spPr>
        <p:txBody>
          <a:bodyPr wrap="square" lIns="0" tIns="0" rIns="0" bIns="0" rtlCol="0" anchor="t"/>
          <a:lstStyle/>
          <a:p>
            <a:pPr indent="0" marL="0">
              <a:buNone/>
            </a:pPr>
            <a:r>
              <a:rPr lang="en-US" sz="1150" dirty="0">
                <a:solidFill>
                  <a:schemeClr val="accent5"/>
                </a:solidFill>
              </a:rPr>
              <a:t>vs best baseline (9.94)</a:t>
            </a:r>
            <a:endParaRPr lang="en-US" sz="1150" dirty="0"/>
          </a:p>
        </p:txBody>
      </p:sp>
      <p:sp>
        <p:nvSpPr>
          <p:cNvPr id="12" name="stat RMSE over 5 rolling folds: the gain holds over time"/>
          <p:cNvSpPr/>
          <p:nvPr/>
        </p:nvSpPr>
        <p:spPr>
          <a:xfrm>
            <a:off x="7818120" y="2788920"/>
            <a:ext cx="3822192" cy="960120"/>
          </a:xfrm>
          <a:prstGeom prst="roundRect">
            <a:avLst>
              <a:gd name="adj" fmla="val 7619"/>
            </a:avLst>
          </a:prstGeom>
          <a:solidFill>
            <a:schemeClr val="bg2"/>
          </a:solidFill>
          <a:ln w="12700">
            <a:solidFill>
              <a:schemeClr val="bg2"/>
            </a:solidFill>
            <a:prstDash val="solid"/>
          </a:ln>
        </p:spPr>
      </p:sp>
      <p:sp>
        <p:nvSpPr>
          <p:cNvPr id="13" name="Text 10"/>
          <p:cNvSpPr txBox="1"/>
          <p:nvPr/>
        </p:nvSpPr>
        <p:spPr>
          <a:xfrm>
            <a:off x="7982712" y="2862072"/>
            <a:ext cx="3547872"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8.68 ± 0.80</a:t>
            </a:r>
            <a:endParaRPr lang="en-US" sz="2600" dirty="0"/>
          </a:p>
        </p:txBody>
      </p:sp>
      <p:sp>
        <p:nvSpPr>
          <p:cNvPr id="14" name="Text 11"/>
          <p:cNvSpPr txBox="1"/>
          <p:nvPr/>
        </p:nvSpPr>
        <p:spPr>
          <a:xfrm>
            <a:off x="7982712" y="3355848"/>
            <a:ext cx="3547872" cy="329184"/>
          </a:xfrm>
          <a:prstGeom prst="rect">
            <a:avLst/>
          </a:prstGeom>
          <a:noFill/>
          <a:ln/>
        </p:spPr>
        <p:txBody>
          <a:bodyPr wrap="square" lIns="0" tIns="0" rIns="0" bIns="0" rtlCol="0" anchor="t"/>
          <a:lstStyle/>
          <a:p>
            <a:pPr indent="0" marL="0">
              <a:buNone/>
            </a:pPr>
            <a:r>
              <a:rPr lang="en-US" sz="1150" dirty="0">
                <a:solidFill>
                  <a:schemeClr val="accent5"/>
                </a:solidFill>
              </a:rPr>
              <a:t>RMSE over 5 rolling folds: the gain holds over time</a:t>
            </a:r>
            <a:endParaRPr lang="en-US" sz="1150" dirty="0"/>
          </a:p>
        </p:txBody>
      </p:sp>
      <p:sp>
        <p:nvSpPr>
          <p:cNvPr id="15" name="Text 12"/>
          <p:cNvSpPr txBox="1"/>
          <p:nvPr/>
        </p:nvSpPr>
        <p:spPr>
          <a:xfrm>
            <a:off x="7818120" y="3931920"/>
            <a:ext cx="3840480"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WHAT EACH INPUT GROUP ADDS (rolling RMSE)</a:t>
            </a:r>
            <a:endParaRPr lang="en-US" sz="1100" dirty="0"/>
          </a:p>
        </p:txBody>
      </p:sp>
      <p:graphicFrame>
        <p:nvGraphicFramePr>
          <p:cNvPr id="9" name="ablation table"/>
          <p:cNvGraphicFramePr>
            <a:graphicFrameLocks noGrp="1"/>
          </p:cNvGraphicFramePr>
          <p:nvPr>
            <p:extLst>
              <p:ext uri="{D42A27DB-BD31-4B8C-83A1-F6EECF244321}">
                <p14:modId xmlns:p14="http://schemas.microsoft.com/office/powerpoint/2010/main" val="1579011935"/>
              </p:ext>
            </p:extLst>
          </p:nvPr>
        </p:nvGraphicFramePr>
        <p:xfrm>
          <a:off x="7818120" y="4251960"/>
          <a:ext cx="3822192" cy="914400"/>
        </p:xfrm>
        <a:graphic>
          <a:graphicData uri="http://schemas.openxmlformats.org/drawingml/2006/table">
            <a:tbl>
              <a:tblPr/>
              <a:tblGrid>
                <a:gridCol w="2176272"/>
                <a:gridCol w="777240"/>
                <a:gridCol w="868680"/>
              </a:tblGrid>
              <a:tr h="274320">
                <a:tc>
                  <a:txBody>
                    <a:bodyPr/>
                    <a:lstStyle/>
                    <a:p>
                      <a:pPr indent="0" marL="0">
                        <a:buNone/>
                      </a:pPr>
                      <a:r>
                        <a:rPr lang="en-US" sz="1200" b="1" dirty="0">
                          <a:solidFill>
                            <a:srgbClr val="0B1E26"/>
                          </a:solidFill>
                        </a:rPr>
                        <a:t>Inputs</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b="1" dirty="0">
                          <a:solidFill>
                            <a:srgbClr val="0B1E26"/>
                          </a:solidFill>
                        </a:rPr>
                        <a:t>RMSE</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b="1" dirty="0">
                          <a:solidFill>
                            <a:srgbClr val="0B1E26"/>
                          </a:solidFill>
                        </a:rPr>
                        <a:t>Change</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r h="274320">
                <a:tc>
                  <a:txBody>
                    <a:bodyPr/>
                    <a:lstStyle/>
                    <a:p>
                      <a:pPr indent="0" marL="0">
                        <a:buNone/>
                      </a:pPr>
                      <a:r>
                        <a:rPr lang="en-US" sz="1200" dirty="0">
                          <a:solidFill>
                            <a:srgbClr val="0B1E26"/>
                          </a:solidFill>
                        </a:rPr>
                        <a:t>Calendar, zone, recent demand</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9.93</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r h="274320">
                <a:tc>
                  <a:txBody>
                    <a:bodyPr/>
                    <a:lstStyle/>
                    <a:p>
                      <a:pPr indent="0" marL="0">
                        <a:buNone/>
                      </a:pPr>
                      <a:r>
                        <a:rPr lang="en-US" sz="1200" dirty="0">
                          <a:solidFill>
                            <a:srgbClr val="0B1E26"/>
                          </a:solidFill>
                        </a:rPr>
                        <a:t>+ weather</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9.06</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−8.9%</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r h="274320">
                <a:tc>
                  <a:txBody>
                    <a:bodyPr/>
                    <a:lstStyle/>
                    <a:p>
                      <a:pPr indent="0" marL="0">
                        <a:buNone/>
                      </a:pPr>
                      <a:r>
                        <a:rPr lang="en-US" sz="1200" dirty="0">
                          <a:solidFill>
                            <a:srgbClr val="0B1E26"/>
                          </a:solidFill>
                        </a:rPr>
                        <a:t>+ events</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9.59</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−3.5%</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r h="274320">
                <a:tc>
                  <a:txBody>
                    <a:bodyPr/>
                    <a:lstStyle/>
                    <a:p>
                      <a:pPr indent="0" marL="0">
                        <a:buNone/>
                      </a:pPr>
                      <a:r>
                        <a:rPr lang="en-US" sz="1200" b="1" dirty="0">
                          <a:solidFill>
                            <a:srgbClr val="0B1E26"/>
                          </a:solidFill>
                        </a:rPr>
                        <a:t>+ both</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b="1" dirty="0">
                          <a:solidFill>
                            <a:srgbClr val="0B1E26"/>
                          </a:solidFill>
                        </a:rPr>
                        <a:t>8.77</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b="1" dirty="0">
                          <a:solidFill>
                            <a:srgbClr val="0D7D81"/>
                          </a:solidFill>
                        </a:rPr>
                        <a:t>−11.7%</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 6 · DELIVERY</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Forecasts become a driver plan with an honest range</a:t>
            </a:r>
            <a:endParaRPr lang="en-US" sz="2600" dirty="0"/>
          </a:p>
        </p:txBody>
      </p:sp>
      <p:pic>
        <p:nvPicPr>
          <p:cNvPr id="4" name="demo app screenshot" descr="demo app screenshot">    </p:cNvPr>
          <p:cNvPicPr>
            <a:picLocks noChangeAspect="1"/>
          </p:cNvPicPr>
          <p:nvPr/>
        </p:nvPicPr>
        <p:blipFill>
          <a:blip r:embed="rId1"/>
          <a:stretch>
            <a:fillRect/>
          </a:stretch>
        </p:blipFill>
        <p:spPr>
          <a:xfrm>
            <a:off x="548640" y="1662430"/>
            <a:ext cx="6766560" cy="3853180"/>
          </a:xfrm>
          <a:prstGeom prst="rect">
            <a:avLst/>
          </a:prstGeom>
        </p:spPr>
      </p:pic>
      <p:sp>
        <p:nvSpPr>
          <p:cNvPr id="5" name="screenshot frame"/>
          <p:cNvSpPr/>
          <p:nvPr/>
        </p:nvSpPr>
        <p:spPr>
          <a:xfrm>
            <a:off x="548640" y="1662430"/>
            <a:ext cx="6766560" cy="3853180"/>
          </a:xfrm>
          <a:prstGeom prst="rect">
            <a:avLst/>
          </a:prstGeom>
          <a:ln w="12700">
            <a:solidFill>
              <a:schemeClr val="accent6"/>
            </a:solidFill>
            <a:prstDash val="solid"/>
          </a:ln>
        </p:spPr>
      </p:sp>
      <p:sp>
        <p:nvSpPr>
          <p:cNvPr id="6" name="Text 3"/>
          <p:cNvSpPr txBox="1"/>
          <p:nvPr/>
        </p:nvSpPr>
        <p:spPr>
          <a:xfrm>
            <a:off x="548640" y="5623560"/>
            <a:ext cx="6766560" cy="256032"/>
          </a:xfrm>
          <a:prstGeom prst="rect">
            <a:avLst/>
          </a:prstGeom>
          <a:noFill/>
          <a:ln/>
        </p:spPr>
        <p:txBody>
          <a:bodyPr wrap="square" lIns="0" tIns="0" rIns="0" bIns="0" rtlCol="0" anchor="ctr"/>
          <a:lstStyle/>
          <a:p>
            <a:pPr indent="0" marL="0">
              <a:buNone/>
            </a:pPr>
            <a:r>
              <a:rPr lang="en-US" sz="1050" i="1" dirty="0">
                <a:solidFill>
                  <a:schemeClr val="accent5"/>
                </a:solidFill>
              </a:rPr>
              <a:t>Demo app: pick a zone and a day; weather and events are looked up automatically. Run: python app/app.py</a:t>
            </a:r>
            <a:endParaRPr lang="en-US" sz="1050" dirty="0"/>
          </a:p>
        </p:txBody>
      </p:sp>
      <p:sp>
        <p:nvSpPr>
          <p:cNvPr id="7" name="stat forecasts delivered"/>
          <p:cNvSpPr/>
          <p:nvPr/>
        </p:nvSpPr>
        <p:spPr>
          <a:xfrm>
            <a:off x="7635240" y="1691640"/>
            <a:ext cx="1920240" cy="960120"/>
          </a:xfrm>
          <a:prstGeom prst="roundRect">
            <a:avLst>
              <a:gd name="adj" fmla="val 7619"/>
            </a:avLst>
          </a:prstGeom>
          <a:solidFill>
            <a:schemeClr val="bg2"/>
          </a:solidFill>
          <a:ln w="12700">
            <a:solidFill>
              <a:schemeClr val="bg2"/>
            </a:solidFill>
            <a:prstDash val="solid"/>
          </a:ln>
        </p:spPr>
      </p:sp>
      <p:sp>
        <p:nvSpPr>
          <p:cNvPr id="8" name="Text 5"/>
          <p:cNvSpPr txBox="1"/>
          <p:nvPr/>
        </p:nvSpPr>
        <p:spPr>
          <a:xfrm>
            <a:off x="7799832" y="1764792"/>
            <a:ext cx="164592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4,032</a:t>
            </a:r>
            <a:endParaRPr lang="en-US" sz="2600" dirty="0"/>
          </a:p>
        </p:txBody>
      </p:sp>
      <p:sp>
        <p:nvSpPr>
          <p:cNvPr id="9" name="Text 6"/>
          <p:cNvSpPr txBox="1"/>
          <p:nvPr/>
        </p:nvSpPr>
        <p:spPr>
          <a:xfrm>
            <a:off x="7799832" y="2258568"/>
            <a:ext cx="1645920" cy="329184"/>
          </a:xfrm>
          <a:prstGeom prst="rect">
            <a:avLst/>
          </a:prstGeom>
          <a:noFill/>
          <a:ln/>
        </p:spPr>
        <p:txBody>
          <a:bodyPr wrap="square" lIns="0" tIns="0" rIns="0" bIns="0" rtlCol="0" anchor="t"/>
          <a:lstStyle/>
          <a:p>
            <a:pPr indent="0" marL="0">
              <a:buNone/>
            </a:pPr>
            <a:r>
              <a:rPr lang="en-US" sz="1150" dirty="0">
                <a:solidFill>
                  <a:schemeClr val="accent5"/>
                </a:solidFill>
              </a:rPr>
              <a:t>forecasts delivered</a:t>
            </a:r>
            <a:endParaRPr lang="en-US" sz="1150" dirty="0"/>
          </a:p>
        </p:txBody>
      </p:sp>
      <p:sp>
        <p:nvSpPr>
          <p:cNvPr id="10" name="stat of hours inside the 80% range"/>
          <p:cNvSpPr/>
          <p:nvPr/>
        </p:nvSpPr>
        <p:spPr>
          <a:xfrm>
            <a:off x="9692640" y="1691640"/>
            <a:ext cx="1947672" cy="960120"/>
          </a:xfrm>
          <a:prstGeom prst="roundRect">
            <a:avLst>
              <a:gd name="adj" fmla="val 7619"/>
            </a:avLst>
          </a:prstGeom>
          <a:solidFill>
            <a:schemeClr val="bg2"/>
          </a:solidFill>
          <a:ln w="12700">
            <a:solidFill>
              <a:schemeClr val="bg2"/>
            </a:solidFill>
            <a:prstDash val="solid"/>
          </a:ln>
        </p:spPr>
      </p:sp>
      <p:sp>
        <p:nvSpPr>
          <p:cNvPr id="11" name="Text 8"/>
          <p:cNvSpPr txBox="1"/>
          <p:nvPr/>
        </p:nvSpPr>
        <p:spPr>
          <a:xfrm>
            <a:off x="9857232" y="1764792"/>
            <a:ext cx="1673352"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79.8%</a:t>
            </a:r>
            <a:endParaRPr lang="en-US" sz="2600" dirty="0"/>
          </a:p>
        </p:txBody>
      </p:sp>
      <p:sp>
        <p:nvSpPr>
          <p:cNvPr id="12" name="Text 9"/>
          <p:cNvSpPr txBox="1"/>
          <p:nvPr/>
        </p:nvSpPr>
        <p:spPr>
          <a:xfrm>
            <a:off x="9857232" y="2258568"/>
            <a:ext cx="1673352" cy="329184"/>
          </a:xfrm>
          <a:prstGeom prst="rect">
            <a:avLst/>
          </a:prstGeom>
          <a:noFill/>
          <a:ln/>
        </p:spPr>
        <p:txBody>
          <a:bodyPr wrap="square" lIns="0" tIns="0" rIns="0" bIns="0" rtlCol="0" anchor="t"/>
          <a:lstStyle/>
          <a:p>
            <a:pPr indent="0" marL="0">
              <a:buNone/>
            </a:pPr>
            <a:r>
              <a:rPr lang="en-US" sz="1150" dirty="0">
                <a:solidFill>
                  <a:schemeClr val="accent5"/>
                </a:solidFill>
              </a:rPr>
              <a:t>of hours inside the 80% range</a:t>
            </a:r>
            <a:endParaRPr lang="en-US" sz="1150" dirty="0"/>
          </a:p>
        </p:txBody>
      </p:sp>
      <p:sp>
        <p:nvSpPr>
          <p:cNvPr id="13" name="bullets"/>
          <p:cNvSpPr txBox="1"/>
          <p:nvPr/>
        </p:nvSpPr>
        <p:spPr>
          <a:xfrm>
            <a:off x="7635240" y="2834640"/>
            <a:ext cx="4005072" cy="30175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chemeClr val="tx1"/>
                </a:solidFill>
              </a:rPr>
              <a:t>Drivers needed </a:t>
            </a:r>
            <a:pPr indent="0" marL="0">
              <a:spcAft>
                <a:spcPts val="700"/>
              </a:spcAft>
              <a:buNone/>
            </a:pPr>
            <a:r>
              <a:rPr lang="en-US" sz="1350" dirty="0">
                <a:solidFill>
                  <a:schemeClr val="tx1"/>
                </a:solidFill>
              </a:rPr>
              <a:t>per hour = forecast ÷ 1.3, plus a safe level from the top of the range.</a:t>
            </a:r>
            <a:endParaRPr lang="en-US" sz="1350" dirty="0"/>
          </a:p>
          <a:p>
            <a:pPr marL="177800" indent="-177800">
              <a:spcAft>
                <a:spcPts val="700"/>
              </a:spcAft>
              <a:buSzPct val="100000"/>
              <a:buChar char="•"/>
            </a:pPr>
            <a:r>
              <a:rPr lang="en-US" sz="1350" b="1" dirty="0">
                <a:solidFill>
                  <a:schemeClr val="tx1"/>
                </a:solidFill>
              </a:rPr>
              <a:t>Gross fares </a:t>
            </a:r>
            <a:pPr indent="0" marL="0">
              <a:spcAft>
                <a:spcPts val="700"/>
              </a:spcAft>
              <a:buNone/>
            </a:pPr>
            <a:r>
              <a:rPr lang="en-US" sz="1350" dirty="0">
                <a:solidFill>
                  <a:schemeClr val="tx1"/>
                </a:solidFill>
              </a:rPr>
              <a:t>= forecast × the zone's average fare.</a:t>
            </a:r>
            <a:endParaRPr lang="en-US" sz="1350" dirty="0"/>
          </a:p>
          <a:p>
            <a:pPr marL="177800" indent="-177800">
              <a:spcAft>
                <a:spcPts val="700"/>
              </a:spcAft>
              <a:buSzPct val="100000"/>
              <a:buChar char="•"/>
            </a:pPr>
            <a:r>
              <a:rPr lang="en-US" sz="1350" b="1" dirty="0">
                <a:solidFill>
                  <a:schemeClr val="tx1"/>
                </a:solidFill>
              </a:rPr>
              <a:t>Peak alerts: </a:t>
            </a:r>
            <a:pPr indent="0" marL="0">
              <a:spcAft>
                <a:spcPts val="700"/>
              </a:spcAft>
              <a:buNone/>
            </a:pPr>
            <a:r>
              <a:rPr lang="en-US" sz="1350" dirty="0">
                <a:solidFill>
                  <a:schemeClr val="tx1"/>
                </a:solidFill>
              </a:rPr>
              <a:t>the model alone catches 57% of peak hours; alerting on the top of the 80% range catches 92%.</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LIMITATIONS AND NEXT STEPS</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bg1"/>
                </a:solidFill>
                <a:latin typeface="Arial" pitchFamily="34" charset="0"/>
                <a:ea typeface="Arial" pitchFamily="34" charset="-122"/>
                <a:cs typeface="Arial" pitchFamily="34" charset="-120"/>
              </a:rPr>
              <a:t>What the forecast cannot see yet, and how we would close the gap</a:t>
            </a:r>
            <a:endParaRPr lang="en-US" sz="2600" dirty="0"/>
          </a:p>
        </p:txBody>
      </p:sp>
      <p:sp>
        <p:nvSpPr>
          <p:cNvPr id="4" name="Text 2"/>
          <p:cNvSpPr txBox="1"/>
          <p:nvPr/>
        </p:nvSpPr>
        <p:spPr>
          <a:xfrm>
            <a:off x="548640" y="1600200"/>
            <a:ext cx="5394960" cy="320040"/>
          </a:xfrm>
          <a:prstGeom prst="rect">
            <a:avLst/>
          </a:prstGeom>
          <a:noFill/>
          <a:ln/>
        </p:spPr>
        <p:txBody>
          <a:bodyPr wrap="square" lIns="0" tIns="0" rIns="0" bIns="0" rtlCol="0" anchor="ctr"/>
          <a:lstStyle/>
          <a:p>
            <a:pPr indent="0" marL="0">
              <a:buNone/>
            </a:pPr>
            <a:r>
              <a:rPr lang="en-US" sz="1300" b="1" spc="200" kern="0" dirty="0">
                <a:solidFill>
                  <a:schemeClr val="accent4"/>
                </a:solidFill>
              </a:rPr>
              <a:t>LIMITATIONS</a:t>
            </a:r>
            <a:endParaRPr lang="en-US" sz="1300" dirty="0"/>
          </a:p>
        </p:txBody>
      </p:sp>
      <p:sp>
        <p:nvSpPr>
          <p:cNvPr id="5" name="LIMITATIONS Holiday eves"/>
          <p:cNvSpPr/>
          <p:nvPr/>
        </p:nvSpPr>
        <p:spPr>
          <a:xfrm>
            <a:off x="548640" y="2011680"/>
            <a:ext cx="5394960" cy="804672"/>
          </a:xfrm>
          <a:prstGeom prst="roundRect">
            <a:avLst>
              <a:gd name="adj" fmla="val 9091"/>
            </a:avLst>
          </a:prstGeom>
          <a:solidFill>
            <a:schemeClr val="tx2"/>
          </a:solidFill>
          <a:ln w="12700">
            <a:solidFill>
              <a:schemeClr val="tx2"/>
            </a:solidFill>
            <a:prstDash val="solid"/>
          </a:ln>
        </p:spPr>
      </p:sp>
      <p:sp>
        <p:nvSpPr>
          <p:cNvPr id="6" name="LIMITATIONS marker 0"/>
          <p:cNvSpPr/>
          <p:nvPr/>
        </p:nvSpPr>
        <p:spPr>
          <a:xfrm>
            <a:off x="548640" y="2011680"/>
            <a:ext cx="73152" cy="804672"/>
          </a:xfrm>
          <a:prstGeom prst="rect">
            <a:avLst/>
          </a:prstGeom>
          <a:solidFill>
            <a:schemeClr val="accent4"/>
          </a:solidFill>
          <a:ln w="12700">
            <a:solidFill>
              <a:schemeClr val="accent4"/>
            </a:solidFill>
            <a:prstDash val="solid"/>
          </a:ln>
        </p:spPr>
      </p:sp>
      <p:sp>
        <p:nvSpPr>
          <p:cNvPr id="7" name="Text 5"/>
          <p:cNvSpPr txBox="1"/>
          <p:nvPr/>
        </p:nvSpPr>
        <p:spPr>
          <a:xfrm>
            <a:off x="822960" y="20665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Holiday eves</a:t>
            </a:r>
            <a:endParaRPr lang="en-US" sz="1300" dirty="0"/>
          </a:p>
          <a:p>
            <a:pPr indent="0" marL="0">
              <a:buNone/>
            </a:pPr>
            <a:r>
              <a:rPr lang="en-US" sz="1300" dirty="0">
                <a:solidFill>
                  <a:srgbClr val="C8DCDD"/>
                </a:solidFill>
              </a:rPr>
              <a:t>9 of the 10 biggest misses are the eve of a holiday the calendar does not list.</a:t>
            </a:r>
            <a:endParaRPr lang="en-US" sz="1300" dirty="0"/>
          </a:p>
        </p:txBody>
      </p:sp>
      <p:sp>
        <p:nvSpPr>
          <p:cNvPr id="8" name="LIMITATIONS Surges are under-called"/>
          <p:cNvSpPr/>
          <p:nvPr/>
        </p:nvSpPr>
        <p:spPr>
          <a:xfrm>
            <a:off x="548640" y="2926080"/>
            <a:ext cx="5394960" cy="804672"/>
          </a:xfrm>
          <a:prstGeom prst="roundRect">
            <a:avLst>
              <a:gd name="adj" fmla="val 9091"/>
            </a:avLst>
          </a:prstGeom>
          <a:solidFill>
            <a:schemeClr val="tx2"/>
          </a:solidFill>
          <a:ln w="12700">
            <a:solidFill>
              <a:schemeClr val="tx2"/>
            </a:solidFill>
            <a:prstDash val="solid"/>
          </a:ln>
        </p:spPr>
      </p:sp>
      <p:sp>
        <p:nvSpPr>
          <p:cNvPr id="9" name="LIMITATIONS marker 1"/>
          <p:cNvSpPr/>
          <p:nvPr/>
        </p:nvSpPr>
        <p:spPr>
          <a:xfrm>
            <a:off x="548640" y="2926080"/>
            <a:ext cx="73152" cy="804672"/>
          </a:xfrm>
          <a:prstGeom prst="rect">
            <a:avLst/>
          </a:prstGeom>
          <a:solidFill>
            <a:schemeClr val="accent4"/>
          </a:solidFill>
          <a:ln w="12700">
            <a:solidFill>
              <a:schemeClr val="accent4"/>
            </a:solidFill>
            <a:prstDash val="solid"/>
          </a:ln>
        </p:spPr>
      </p:sp>
      <p:sp>
        <p:nvSpPr>
          <p:cNvPr id="10" name="Text 8"/>
          <p:cNvSpPr txBox="1"/>
          <p:nvPr/>
        </p:nvSpPr>
        <p:spPr>
          <a:xfrm>
            <a:off x="822960" y="29809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Surges are under-called</a:t>
            </a:r>
            <a:endParaRPr lang="en-US" sz="1300" dirty="0"/>
          </a:p>
          <a:p>
            <a:pPr indent="0" marL="0">
              <a:buNone/>
            </a:pPr>
            <a:r>
              <a:rPr lang="en-US" sz="1300" dirty="0">
                <a:solidFill>
                  <a:srgbClr val="C8DCDD"/>
                </a:solidFill>
              </a:rPr>
              <a:t>every large miss is an under-forecast; the model plays safe on crowds.</a:t>
            </a:r>
            <a:endParaRPr lang="en-US" sz="1300" dirty="0"/>
          </a:p>
        </p:txBody>
      </p:sp>
      <p:sp>
        <p:nvSpPr>
          <p:cNvPr id="11" name="LIMITATIONS Synthetic, short history"/>
          <p:cNvSpPr/>
          <p:nvPr/>
        </p:nvSpPr>
        <p:spPr>
          <a:xfrm>
            <a:off x="548640" y="3840480"/>
            <a:ext cx="5394960" cy="804672"/>
          </a:xfrm>
          <a:prstGeom prst="roundRect">
            <a:avLst>
              <a:gd name="adj" fmla="val 9091"/>
            </a:avLst>
          </a:prstGeom>
          <a:solidFill>
            <a:schemeClr val="tx2"/>
          </a:solidFill>
          <a:ln w="12700">
            <a:solidFill>
              <a:schemeClr val="tx2"/>
            </a:solidFill>
            <a:prstDash val="solid"/>
          </a:ln>
        </p:spPr>
      </p:sp>
      <p:sp>
        <p:nvSpPr>
          <p:cNvPr id="12" name="LIMITATIONS marker 2"/>
          <p:cNvSpPr/>
          <p:nvPr/>
        </p:nvSpPr>
        <p:spPr>
          <a:xfrm>
            <a:off x="548640" y="3840480"/>
            <a:ext cx="73152" cy="804672"/>
          </a:xfrm>
          <a:prstGeom prst="rect">
            <a:avLst/>
          </a:prstGeom>
          <a:solidFill>
            <a:schemeClr val="accent4"/>
          </a:solidFill>
          <a:ln w="12700">
            <a:solidFill>
              <a:schemeClr val="accent4"/>
            </a:solidFill>
            <a:prstDash val="solid"/>
          </a:ln>
        </p:spPr>
      </p:sp>
      <p:sp>
        <p:nvSpPr>
          <p:cNvPr id="13" name="Text 11"/>
          <p:cNvSpPr txBox="1"/>
          <p:nvPr/>
        </p:nvSpPr>
        <p:spPr>
          <a:xfrm>
            <a:off x="822960" y="38953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Synthetic, short history</a:t>
            </a:r>
            <a:endParaRPr lang="en-US" sz="1300" dirty="0"/>
          </a:p>
          <a:p>
            <a:pPr indent="0" marL="0">
              <a:buNone/>
            </a:pPr>
            <a:r>
              <a:rPr lang="en-US" sz="1300" dirty="0">
                <a:solidFill>
                  <a:srgbClr val="C8DCDD"/>
                </a:solidFill>
              </a:rPr>
              <a:t>ten months of generated data; Ayat has only seven months.</a:t>
            </a:r>
            <a:endParaRPr lang="en-US" sz="1300" dirty="0"/>
          </a:p>
        </p:txBody>
      </p:sp>
      <p:sp>
        <p:nvSpPr>
          <p:cNvPr id="14" name="LIMITATIONS Assumed inputs"/>
          <p:cNvSpPr/>
          <p:nvPr/>
        </p:nvSpPr>
        <p:spPr>
          <a:xfrm>
            <a:off x="548640" y="4754880"/>
            <a:ext cx="5394960" cy="804672"/>
          </a:xfrm>
          <a:prstGeom prst="roundRect">
            <a:avLst>
              <a:gd name="adj" fmla="val 9091"/>
            </a:avLst>
          </a:prstGeom>
          <a:solidFill>
            <a:schemeClr val="tx2"/>
          </a:solidFill>
          <a:ln w="12700">
            <a:solidFill>
              <a:schemeClr val="tx2"/>
            </a:solidFill>
            <a:prstDash val="solid"/>
          </a:ln>
        </p:spPr>
      </p:sp>
      <p:sp>
        <p:nvSpPr>
          <p:cNvPr id="15" name="LIMITATIONS marker 3"/>
          <p:cNvSpPr/>
          <p:nvPr/>
        </p:nvSpPr>
        <p:spPr>
          <a:xfrm>
            <a:off x="548640" y="4754880"/>
            <a:ext cx="73152" cy="804672"/>
          </a:xfrm>
          <a:prstGeom prst="rect">
            <a:avLst/>
          </a:prstGeom>
          <a:solidFill>
            <a:schemeClr val="accent4"/>
          </a:solidFill>
          <a:ln w="12700">
            <a:solidFill>
              <a:schemeClr val="accent4"/>
            </a:solidFill>
            <a:prstDash val="solid"/>
          </a:ln>
        </p:spPr>
      </p:sp>
      <p:sp>
        <p:nvSpPr>
          <p:cNvPr id="16" name="Text 14"/>
          <p:cNvSpPr txBox="1"/>
          <p:nvPr/>
        </p:nvSpPr>
        <p:spPr>
          <a:xfrm>
            <a:off x="822960" y="48097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Assumed inputs</a:t>
            </a:r>
            <a:endParaRPr lang="en-US" sz="1300" dirty="0"/>
          </a:p>
          <a:p>
            <a:pPr indent="0" marL="0">
              <a:buNone/>
            </a:pPr>
            <a:r>
              <a:rPr lang="en-US" sz="1300" dirty="0">
                <a:solidFill>
                  <a:srgbClr val="C8DCDD"/>
                </a:solidFill>
              </a:rPr>
              <a:t>uses the weather forecast as given; driver supply and pricing are not modelled.</a:t>
            </a:r>
            <a:endParaRPr lang="en-US" sz="1300" dirty="0"/>
          </a:p>
        </p:txBody>
      </p:sp>
      <p:sp>
        <p:nvSpPr>
          <p:cNvPr id="17" name="Text 15"/>
          <p:cNvSpPr txBox="1"/>
          <p:nvPr/>
        </p:nvSpPr>
        <p:spPr>
          <a:xfrm>
            <a:off x="6245352" y="1600200"/>
            <a:ext cx="5394960" cy="320040"/>
          </a:xfrm>
          <a:prstGeom prst="rect">
            <a:avLst/>
          </a:prstGeom>
          <a:noFill/>
          <a:ln/>
        </p:spPr>
        <p:txBody>
          <a:bodyPr wrap="square" lIns="0" tIns="0" rIns="0" bIns="0" rtlCol="0" anchor="ctr"/>
          <a:lstStyle/>
          <a:p>
            <a:pPr indent="0" marL="0">
              <a:buNone/>
            </a:pPr>
            <a:r>
              <a:rPr lang="en-US" sz="1300" b="1" spc="200" kern="0" dirty="0">
                <a:solidFill>
                  <a:schemeClr val="accent2"/>
                </a:solidFill>
              </a:rPr>
              <a:t>NEXT STEPS</a:t>
            </a:r>
            <a:endParaRPr lang="en-US" sz="1300" dirty="0"/>
          </a:p>
        </p:txBody>
      </p:sp>
      <p:sp>
        <p:nvSpPr>
          <p:cNvPr id="18" name="NEXT STEPS Religious-calendar feed"/>
          <p:cNvSpPr/>
          <p:nvPr/>
        </p:nvSpPr>
        <p:spPr>
          <a:xfrm>
            <a:off x="6245352" y="2011680"/>
            <a:ext cx="5394960" cy="804672"/>
          </a:xfrm>
          <a:prstGeom prst="roundRect">
            <a:avLst>
              <a:gd name="adj" fmla="val 9091"/>
            </a:avLst>
          </a:prstGeom>
          <a:solidFill>
            <a:schemeClr val="tx2"/>
          </a:solidFill>
          <a:ln w="12700">
            <a:solidFill>
              <a:schemeClr val="tx2"/>
            </a:solidFill>
            <a:prstDash val="solid"/>
          </a:ln>
        </p:spPr>
      </p:sp>
      <p:sp>
        <p:nvSpPr>
          <p:cNvPr id="19" name="NEXT STEPS marker 0"/>
          <p:cNvSpPr/>
          <p:nvPr/>
        </p:nvSpPr>
        <p:spPr>
          <a:xfrm>
            <a:off x="6245352" y="2011680"/>
            <a:ext cx="73152" cy="804672"/>
          </a:xfrm>
          <a:prstGeom prst="rect">
            <a:avLst/>
          </a:prstGeom>
          <a:solidFill>
            <a:schemeClr val="accent2"/>
          </a:solidFill>
          <a:ln w="12700">
            <a:solidFill>
              <a:schemeClr val="accent2"/>
            </a:solidFill>
            <a:prstDash val="solid"/>
          </a:ln>
        </p:spPr>
      </p:sp>
      <p:sp>
        <p:nvSpPr>
          <p:cNvPr id="20" name="Text 18"/>
          <p:cNvSpPr txBox="1"/>
          <p:nvPr/>
        </p:nvSpPr>
        <p:spPr>
          <a:xfrm>
            <a:off x="6519672" y="20665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Religious-calendar feed</a:t>
            </a:r>
            <a:endParaRPr lang="en-US" sz="1300" dirty="0"/>
          </a:p>
          <a:p>
            <a:pPr indent="0" marL="0">
              <a:buNone/>
            </a:pPr>
            <a:r>
              <a:rPr lang="en-US" sz="1300" dirty="0">
                <a:solidFill>
                  <a:srgbClr val="C8DCDD"/>
                </a:solidFill>
              </a:rPr>
              <a:t>so eves and feast days are known in advance.</a:t>
            </a:r>
            <a:endParaRPr lang="en-US" sz="1300" dirty="0"/>
          </a:p>
        </p:txBody>
      </p:sp>
      <p:sp>
        <p:nvSpPr>
          <p:cNvPr id="21" name="NEXT STEPS Per-zone uncertainty"/>
          <p:cNvSpPr/>
          <p:nvPr/>
        </p:nvSpPr>
        <p:spPr>
          <a:xfrm>
            <a:off x="6245352" y="2926080"/>
            <a:ext cx="5394960" cy="804672"/>
          </a:xfrm>
          <a:prstGeom prst="roundRect">
            <a:avLst>
              <a:gd name="adj" fmla="val 9091"/>
            </a:avLst>
          </a:prstGeom>
          <a:solidFill>
            <a:schemeClr val="tx2"/>
          </a:solidFill>
          <a:ln w="12700">
            <a:solidFill>
              <a:schemeClr val="tx2"/>
            </a:solidFill>
            <a:prstDash val="solid"/>
          </a:ln>
        </p:spPr>
      </p:sp>
      <p:sp>
        <p:nvSpPr>
          <p:cNvPr id="22" name="NEXT STEPS marker 1"/>
          <p:cNvSpPr/>
          <p:nvPr/>
        </p:nvSpPr>
        <p:spPr>
          <a:xfrm>
            <a:off x="6245352" y="2926080"/>
            <a:ext cx="73152" cy="804672"/>
          </a:xfrm>
          <a:prstGeom prst="rect">
            <a:avLst/>
          </a:prstGeom>
          <a:solidFill>
            <a:schemeClr val="accent2"/>
          </a:solidFill>
          <a:ln w="12700">
            <a:solidFill>
              <a:schemeClr val="accent2"/>
            </a:solidFill>
            <a:prstDash val="solid"/>
          </a:ln>
        </p:spPr>
      </p:sp>
      <p:sp>
        <p:nvSpPr>
          <p:cNvPr id="23" name="Text 21"/>
          <p:cNvSpPr txBox="1"/>
          <p:nvPr/>
        </p:nvSpPr>
        <p:spPr>
          <a:xfrm>
            <a:off x="6519672" y="29809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Per-zone uncertainty</a:t>
            </a:r>
            <a:endParaRPr lang="en-US" sz="1300" dirty="0"/>
          </a:p>
          <a:p>
            <a:pPr indent="0" marL="0">
              <a:buNone/>
            </a:pPr>
            <a:r>
              <a:rPr lang="en-US" sz="1300" dirty="0">
                <a:solidFill>
                  <a:srgbClr val="C8DCDD"/>
                </a:solidFill>
              </a:rPr>
              <a:t>a quantile model instead of one pooled range width.</a:t>
            </a:r>
            <a:endParaRPr lang="en-US" sz="1300" dirty="0"/>
          </a:p>
        </p:txBody>
      </p:sp>
      <p:sp>
        <p:nvSpPr>
          <p:cNvPr id="24" name="NEXT STEPS Weekly retraining"/>
          <p:cNvSpPr/>
          <p:nvPr/>
        </p:nvSpPr>
        <p:spPr>
          <a:xfrm>
            <a:off x="6245352" y="3840480"/>
            <a:ext cx="5394960" cy="804672"/>
          </a:xfrm>
          <a:prstGeom prst="roundRect">
            <a:avLst>
              <a:gd name="adj" fmla="val 9091"/>
            </a:avLst>
          </a:prstGeom>
          <a:solidFill>
            <a:schemeClr val="tx2"/>
          </a:solidFill>
          <a:ln w="12700">
            <a:solidFill>
              <a:schemeClr val="tx2"/>
            </a:solidFill>
            <a:prstDash val="solid"/>
          </a:ln>
        </p:spPr>
      </p:sp>
      <p:sp>
        <p:nvSpPr>
          <p:cNvPr id="25" name="NEXT STEPS marker 2"/>
          <p:cNvSpPr/>
          <p:nvPr/>
        </p:nvSpPr>
        <p:spPr>
          <a:xfrm>
            <a:off x="6245352" y="3840480"/>
            <a:ext cx="73152" cy="804672"/>
          </a:xfrm>
          <a:prstGeom prst="rect">
            <a:avLst/>
          </a:prstGeom>
          <a:solidFill>
            <a:schemeClr val="accent2"/>
          </a:solidFill>
          <a:ln w="12700">
            <a:solidFill>
              <a:schemeClr val="accent2"/>
            </a:solidFill>
            <a:prstDash val="solid"/>
          </a:ln>
        </p:spPr>
      </p:sp>
      <p:sp>
        <p:nvSpPr>
          <p:cNvPr id="26" name="Text 24"/>
          <p:cNvSpPr txBox="1"/>
          <p:nvPr/>
        </p:nvSpPr>
        <p:spPr>
          <a:xfrm>
            <a:off x="6519672" y="38953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Weekly retraining</a:t>
            </a:r>
            <a:endParaRPr lang="en-US" sz="1300" dirty="0"/>
          </a:p>
          <a:p>
            <a:pPr indent="0" marL="0">
              <a:buNone/>
            </a:pPr>
            <a:r>
              <a:rPr lang="en-US" sz="1300" dirty="0">
                <a:solidFill>
                  <a:srgbClr val="C8DCDD"/>
                </a:solidFill>
              </a:rPr>
              <a:t>demand grew 40% in ten months; the model must keep up.</a:t>
            </a:r>
            <a:endParaRPr lang="en-US" sz="1300" dirty="0"/>
          </a:p>
        </p:txBody>
      </p:sp>
      <p:sp>
        <p:nvSpPr>
          <p:cNvPr id="27" name="NEXT STEPS Monitor live error"/>
          <p:cNvSpPr/>
          <p:nvPr/>
        </p:nvSpPr>
        <p:spPr>
          <a:xfrm>
            <a:off x="6245352" y="4754880"/>
            <a:ext cx="5394960" cy="804672"/>
          </a:xfrm>
          <a:prstGeom prst="roundRect">
            <a:avLst>
              <a:gd name="adj" fmla="val 9091"/>
            </a:avLst>
          </a:prstGeom>
          <a:solidFill>
            <a:schemeClr val="tx2"/>
          </a:solidFill>
          <a:ln w="12700">
            <a:solidFill>
              <a:schemeClr val="tx2"/>
            </a:solidFill>
            <a:prstDash val="solid"/>
          </a:ln>
        </p:spPr>
      </p:sp>
      <p:sp>
        <p:nvSpPr>
          <p:cNvPr id="28" name="NEXT STEPS marker 3"/>
          <p:cNvSpPr/>
          <p:nvPr/>
        </p:nvSpPr>
        <p:spPr>
          <a:xfrm>
            <a:off x="6245352" y="4754880"/>
            <a:ext cx="73152" cy="804672"/>
          </a:xfrm>
          <a:prstGeom prst="rect">
            <a:avLst/>
          </a:prstGeom>
          <a:solidFill>
            <a:schemeClr val="accent2"/>
          </a:solidFill>
          <a:ln w="12700">
            <a:solidFill>
              <a:schemeClr val="accent2"/>
            </a:solidFill>
            <a:prstDash val="solid"/>
          </a:ln>
        </p:spPr>
      </p:sp>
      <p:sp>
        <p:nvSpPr>
          <p:cNvPr id="29" name="Text 27"/>
          <p:cNvSpPr txBox="1"/>
          <p:nvPr/>
        </p:nvSpPr>
        <p:spPr>
          <a:xfrm>
            <a:off x="6519672" y="48097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Monitor live error</a:t>
            </a:r>
            <a:endParaRPr lang="en-US" sz="1300" dirty="0"/>
          </a:p>
          <a:p>
            <a:pPr indent="0" marL="0">
              <a:buNone/>
            </a:pPr>
            <a:r>
              <a:rPr lang="en-US" sz="1300" dirty="0">
                <a:solidFill>
                  <a:srgbClr val="C8DCDD"/>
                </a:solidFill>
              </a:rPr>
              <a:t>alert when a zone drifts beyond its usual error.</a:t>
            </a:r>
            <a:endParaRPr lang="en-US" sz="1300" dirty="0"/>
          </a:p>
        </p:txBody>
      </p:sp>
      <p:sp>
        <p:nvSpPr>
          <p:cNvPr id="30" name="Text 28"/>
          <p:cNvSpPr txBox="1"/>
          <p:nvPr/>
        </p:nvSpPr>
        <p:spPr>
          <a:xfrm>
            <a:off x="548640" y="5760720"/>
            <a:ext cx="11064240" cy="365760"/>
          </a:xfrm>
          <a:prstGeom prst="rect">
            <a:avLst/>
          </a:prstGeom>
          <a:noFill/>
          <a:ln/>
        </p:spPr>
        <p:txBody>
          <a:bodyPr wrap="square" lIns="0" tIns="0" rIns="0" bIns="0" rtlCol="0" anchor="ctr"/>
          <a:lstStyle/>
          <a:p>
            <a:pPr indent="0" marL="0">
              <a:buNone/>
            </a:pPr>
            <a:r>
              <a:rPr lang="en-US" sz="1500" b="1" dirty="0">
                <a:solidFill>
                  <a:schemeClr val="bg1"/>
                </a:solidFill>
              </a:rPr>
              <a:t>Bottom line: a forecast that beats simple rules by 19%, explains why, and is ready to plan drivers with today.</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ddis Ride Demand">
  <a:themeElements>
    <a:clrScheme name="Addis Ride Demand">
      <a:dk1>
        <a:srgbClr val="0B1E26"/>
      </a:dk1>
      <a:lt1>
        <a:srgbClr val="FFFFFF"/>
      </a:lt1>
      <a:dk2>
        <a:srgbClr val="08494D"/>
      </a:dk2>
      <a:lt2>
        <a:srgbClr val="F1F6F6"/>
      </a:lt2>
      <a:accent1>
        <a:srgbClr val="0D7D81"/>
      </a:accent1>
      <a:accent2>
        <a:srgbClr val="13B4B9"/>
      </a:accent2>
      <a:accent3>
        <a:srgbClr val="26969A"/>
      </a:accent3>
      <a:accent4>
        <a:srgbClr val="E07A3F"/>
      </a:accent4>
      <a:accent5>
        <a:srgbClr val="5E6F73"/>
      </a:accent5>
      <a:accent6>
        <a:srgbClr val="C8DCDD"/>
      </a:accent6>
      <a:hlink>
        <a:srgbClr val="0D7D81"/>
      </a:hlink>
      <a:folHlink>
        <a:srgbClr val="5E6F73"/>
      </a:folHlink>
    </a:clrScheme>
    <a:fontScheme name="Addis Ride Deman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Addis Ababa Ride Demand Forecasting</dc:title>
  <dc:subject>PptxGenJS Presentation</dc:subject>
  <dc:creator>teamdev</dc:creator>
  <cp:lastModifiedBy>teamdev</cp:lastModifiedBy>
  <cp:revision>1</cp:revision>
  <dcterms:created xsi:type="dcterms:W3CDTF">2026-10-06T14:27:21Z</dcterms:created>
  <dcterms:modified xsi:type="dcterms:W3CDTF">2026-10-06T14:27:21Z</dcterms:modified>
</cp:coreProperties>
</file>
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ellefair"/>
      <p:regular r:id="rId201314"/>
    </p:embeddedFont>
    <p:embeddedFont>
      <p:font typeface="Host Grotesk Bold"/>
      <p:regular r:id="rId201315"/>
    </p:embeddedFont>
    <p:embeddedFont>
      <p:font typeface="Red Hat Text Bold"/>
      <p:regular r:id="rId201316"/>
    </p:embeddedFont>
    <p:embeddedFont>
      <p:font typeface="Red Hat Text"/>
      <p:regular r:id="rId201317"/>
    </p:embeddedFont>
    <p:embeddedFont>
      <p:font typeface="Space Mono"/>
      <p:regular r:id="rId201318"/>
    </p:embeddedFont>
    <p:embeddedFont>
      <p:font typeface="Space Mono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B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B1E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34715"/>
            <a:ext cx="691884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QIYAS AI HACKATHON #2 · EXECUTIVE TAKEAWAY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94370"/>
            <a:ext cx="6309262" cy="2080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Addis Ababa</a:t>
            </a:r>
            <a:endParaRPr lang="en-US" sz="52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Ride Demand</a:t>
            </a:r>
            <a:endParaRPr lang="en-US" sz="52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Forecasting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09585" y="3292277"/>
            <a:ext cx="6918846" cy="284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 dependable, zone-hour forecast for 1–14 November 2025.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09585" y="3779937"/>
            <a:ext cx="2082053" cy="38100"/>
          </a:xfrm>
          <a:prstGeom prst="roundRect">
            <a:avLst>
              <a:gd name="adj" fmla="val 49999"/>
            </a:avLst>
          </a:prstGeom>
          <a:solidFill>
            <a:srgbClr val="0D7D81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021237"/>
            <a:ext cx="3078383" cy="141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Name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Abraham Gebeyehu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Bethelhem Legesse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Eden Kibret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Eleni Andualem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Feven Abebe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Surafel Solomon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840364" y="4021237"/>
            <a:ext cx="3078482" cy="1411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Student ID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qiyas-2026-004484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qiyas-2026-000286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qiyas-2026-000721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qiyas-2026-000054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qiyas-2026-003641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qiyas-2026-007128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09585" y="5591175"/>
            <a:ext cx="6309262" cy="5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Feven Abebe · Surafel Solomon</a:t>
            </a:r>
            <a:endParaRPr lang="en-US" sz="10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Team teamdev · Qiyas / IADE AI Training Program, Addis Ababa University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33124" y="0"/>
            <a:ext cx="4358571" cy="6858000"/>
          </a:xfrm>
          <a:prstGeom prst="rect">
            <a:avLst/>
          </a:prstGeom>
          <a:solidFill>
            <a:srgbClr val="0D7D81"/>
          </a:solidFill>
          <a:ln/>
        </p:spPr>
      </p:sp>
      <p:sp>
        <p:nvSpPr>
          <p:cNvPr id="10" name="Text 8"/>
          <p:cNvSpPr/>
          <p:nvPr/>
        </p:nvSpPr>
        <p:spPr>
          <a:xfrm>
            <a:off x="8188715" y="2252861"/>
            <a:ext cx="400298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INPUT GRID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88715" y="2598241"/>
            <a:ext cx="1114199" cy="10316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188715" y="2750641"/>
            <a:ext cx="111419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10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41112" y="3104257"/>
            <a:ext cx="80940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months of trips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455310" y="2598241"/>
            <a:ext cx="1114199" cy="10316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9455310" y="2750641"/>
            <a:ext cx="111419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24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55310" y="3104257"/>
            <a:ext cx="111419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hours × day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721905" y="2598241"/>
            <a:ext cx="1114199" cy="10316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721905" y="2750641"/>
            <a:ext cx="111419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12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721905" y="3104257"/>
            <a:ext cx="111419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Addis zones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188715" y="3858518"/>
            <a:ext cx="3647388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Result: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4,032 forecasts with uncertainty intervals, a local app, and reproducible analysis.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59284"/>
            <a:ext cx="564887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D7D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PROBLEM · OBJECTIVES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518940"/>
            <a:ext cx="5039293" cy="1146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00" b="1" dirty="0">
                <a:solidFill>
                  <a:srgbClr val="0B1E26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Demand moves faster than the plan.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609585" y="2845891"/>
            <a:ext cx="5039293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Ride demand changes by zone, hour, weather, and events. Operators need a dependable view before drivers and fares must move.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3795613"/>
            <a:ext cx="1662964" cy="38100"/>
          </a:xfrm>
          <a:prstGeom prst="roundRect">
            <a:avLst>
              <a:gd name="adj" fmla="val 49999"/>
            </a:avLst>
          </a:prstGeom>
          <a:solidFill>
            <a:srgbClr val="0D7D81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036913"/>
            <a:ext cx="5039293" cy="1561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Objective 1: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forecast hourly trips for 12 Addis Ababa zones.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Objective 2: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predict the 1–14 November 2025 horizon without future leakage.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Objective 3: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turn forecast quality into staffing, fare, and monitoring decisions.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15552" y="0"/>
            <a:ext cx="5476143" cy="6858000"/>
          </a:xfrm>
          <a:prstGeom prst="rect">
            <a:avLst/>
          </a:prstGeom>
          <a:solidFill>
            <a:srgbClr val="0B1E26"/>
          </a:solidFill>
          <a:ln/>
        </p:spPr>
      </p:sp>
      <p:sp>
        <p:nvSpPr>
          <p:cNvPr id="8" name="Text 6"/>
          <p:cNvSpPr/>
          <p:nvPr/>
        </p:nvSpPr>
        <p:spPr>
          <a:xfrm>
            <a:off x="7071143" y="2541984"/>
            <a:ext cx="512055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DECISION WINDOW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71143" y="2887365"/>
            <a:ext cx="5120552" cy="675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3800" dirty="0">
                <a:solidFill>
                  <a:srgbClr val="13B4B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12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7071143" y="3721695"/>
            <a:ext cx="512055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zones × 24 hours × 14 days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71143" y="4129286"/>
            <a:ext cx="512055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One common forecast frame for the city.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13B4B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DATA SOURCES · FORECASTING FRAME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46480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Three inputs. One hourly forecasting grid.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647255"/>
            <a:ext cx="4648084" cy="1810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Trips: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10 months of synthetic hackathon ride records across 12 zones.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Weather: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hourly observations used to explain demand changes.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Events: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 city calendar capturing football and other demand shocks.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4660999"/>
            <a:ext cx="1533685" cy="38100"/>
          </a:xfrm>
          <a:prstGeom prst="roundRect">
            <a:avLst>
              <a:gd name="adj" fmla="val 49999"/>
            </a:avLst>
          </a:prstGeom>
          <a:solidFill>
            <a:srgbClr val="0D7D81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4902299"/>
            <a:ext cx="525766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Target: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zone-hour trip demand for 1–14 November 2025.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629234" y="304800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FORECASTING FRAME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29234" y="650180"/>
            <a:ext cx="2552636" cy="845046"/>
          </a:xfrm>
          <a:prstGeom prst="rect">
            <a:avLst/>
          </a:prstGeom>
          <a:solidFill>
            <a:srgbClr val="0D7D81"/>
          </a:solidFill>
          <a:ln/>
        </p:spPr>
      </p:sp>
      <p:sp>
        <p:nvSpPr>
          <p:cNvPr id="10" name="Text 8"/>
          <p:cNvSpPr/>
          <p:nvPr/>
        </p:nvSpPr>
        <p:spPr>
          <a:xfrm>
            <a:off x="6629234" y="802580"/>
            <a:ext cx="255263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10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234" y="1156196"/>
            <a:ext cx="255263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months history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334266" y="650180"/>
            <a:ext cx="2552636" cy="845046"/>
          </a:xfrm>
          <a:prstGeom prst="rect">
            <a:avLst/>
          </a:prstGeom>
          <a:solidFill>
            <a:srgbClr val="08494D"/>
          </a:solidFill>
          <a:ln/>
        </p:spPr>
      </p:sp>
      <p:sp>
        <p:nvSpPr>
          <p:cNvPr id="13" name="Text 11"/>
          <p:cNvSpPr/>
          <p:nvPr/>
        </p:nvSpPr>
        <p:spPr>
          <a:xfrm>
            <a:off x="9334266" y="802580"/>
            <a:ext cx="255263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12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334266" y="1156196"/>
            <a:ext cx="255263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zones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629234" y="1723827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All sources are joined on zone and time before features are created.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64887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D7D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DATA CLEANING · INTEGRATION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5039293" cy="1679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200" b="1" dirty="0">
                <a:solidFill>
                  <a:srgbClr val="0B1E26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Repair the inputs before asking the model to learn.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2727027"/>
            <a:ext cx="503929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We documented and fixed </a:t>
            </a:r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28 data problems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across the raw exports.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3383459"/>
            <a:ext cx="5039293" cy="1581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Converted Fahrenheit weather values and handled −9999 rain sentinels.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Investigated 125 export spikes instead of silently dropping them.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Standardized inconsistent event rows and joined the sources by zone-hour.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09585" y="5124152"/>
            <a:ext cx="5039293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Outcome: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one clean, auditable analytical spine for training and forecast generation.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15552" y="0"/>
            <a:ext cx="5476143" cy="6858000"/>
          </a:xfrm>
          <a:prstGeom prst="rect">
            <a:avLst/>
          </a:prstGeom>
          <a:solidFill>
            <a:srgbClr val="0B1E26"/>
          </a:solidFill>
          <a:ln/>
        </p:spPr>
      </p:sp>
      <p:sp>
        <p:nvSpPr>
          <p:cNvPr id="8" name="Text 6"/>
          <p:cNvSpPr/>
          <p:nvPr/>
        </p:nvSpPr>
        <p:spPr>
          <a:xfrm>
            <a:off x="7071143" y="2284214"/>
            <a:ext cx="512055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QUALITY GATE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071143" y="2629595"/>
            <a:ext cx="5120552" cy="924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5200" dirty="0">
                <a:solidFill>
                  <a:srgbClr val="13B4B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28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7071143" y="3712865"/>
            <a:ext cx="512055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documented problems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71143" y="4164905"/>
            <a:ext cx="4764960" cy="1905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071143" y="4387155"/>
            <a:ext cx="512055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Cleaning is part of the evidence, not hidden preprocessing.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D7D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BREAKTHROUGH · UTC → EAT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4648084" cy="2293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00" b="1" dirty="0">
                <a:solidFill>
                  <a:srgbClr val="0B1E26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The weather clock was wrong.</a:t>
            </a:r>
            <a:endParaRPr lang="en-US" sz="43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300" b="1" dirty="0">
                <a:solidFill>
                  <a:srgbClr val="0D7D81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Fixing it changed the signal.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609585" y="3385046"/>
            <a:ext cx="1533685" cy="38100"/>
          </a:xfrm>
          <a:prstGeom prst="roundRect">
            <a:avLst>
              <a:gd name="adj" fmla="val 49999"/>
            </a:avLst>
          </a:prstGeom>
          <a:solidFill>
            <a:srgbClr val="0D7D8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626346"/>
            <a:ext cx="4648084" cy="2308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Weather arrived in UTC.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Trips were recorded in East Africa Time. Shifting weather by +3 hours aligned cause and response in the same zone-hour.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Measured effect.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Rain correlation moved from 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0.02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to 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0.27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after the correction.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Modeling rule.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Chronological validation and forecast-time features prevented future information from leaking into training.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0B1E26"/>
          </a:solidFill>
          <a:ln/>
        </p:spPr>
      </p:sp>
      <p:sp>
        <p:nvSpPr>
          <p:cNvPr id="7" name="Text 5"/>
          <p:cNvSpPr/>
          <p:nvPr/>
        </p:nvSpPr>
        <p:spPr>
          <a:xfrm>
            <a:off x="6629234" y="304800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SIGNAL AFTER ALIGNMENT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29234" y="650180"/>
            <a:ext cx="5562461" cy="1137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6400" dirty="0">
                <a:solidFill>
                  <a:srgbClr val="13B4B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+3h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6629234" y="1946771"/>
            <a:ext cx="55624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UTC weather shifted into EAT.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29234" y="2398812"/>
            <a:ext cx="5257668" cy="1905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629234" y="2621062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629234" y="2966442"/>
            <a:ext cx="5257668" cy="790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Rain lifts demand up to 63%, except Merkato, where it falls 42%.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Football demand reaches 1.8× before and 2.5× after the match.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13B4B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FEATURE ENGINEERING · DEMAND SIGNALS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464808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Features explain when demand moves.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09585" y="2647255"/>
            <a:ext cx="4648084" cy="1810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36 forecast-time features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combine calendar structure, zone identity, weather, events, and recent demand context.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Rain lifts demand up to 63% in most zones, while open-air Merkato falls 42%—a reminder that signals are local.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Football demand reaches 1.8× before kick-off and 2.5× after the final whistle.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629234" y="304800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00000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SIGNAL BOARD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629234" y="650180"/>
            <a:ext cx="2552636" cy="845046"/>
          </a:xfrm>
          <a:prstGeom prst="rect">
            <a:avLst/>
          </a:prstGeom>
          <a:solidFill>
            <a:srgbClr val="0D7D81"/>
          </a:solidFill>
          <a:ln/>
        </p:spPr>
      </p:sp>
      <p:sp>
        <p:nvSpPr>
          <p:cNvPr id="8" name="Text 6"/>
          <p:cNvSpPr/>
          <p:nvPr/>
        </p:nvSpPr>
        <p:spPr>
          <a:xfrm>
            <a:off x="6629234" y="802580"/>
            <a:ext cx="255263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63%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234" y="1156196"/>
            <a:ext cx="255263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rain lift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334266" y="650180"/>
            <a:ext cx="2552636" cy="845046"/>
          </a:xfrm>
          <a:prstGeom prst="rect">
            <a:avLst/>
          </a:prstGeom>
          <a:solidFill>
            <a:srgbClr val="08494D"/>
          </a:solidFill>
          <a:ln/>
        </p:spPr>
      </p:sp>
      <p:sp>
        <p:nvSpPr>
          <p:cNvPr id="11" name="Text 9"/>
          <p:cNvSpPr/>
          <p:nvPr/>
        </p:nvSpPr>
        <p:spPr>
          <a:xfrm>
            <a:off x="9334266" y="802580"/>
            <a:ext cx="255263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2.5×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34266" y="1156196"/>
            <a:ext cx="255263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post-match demand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29234" y="1723827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The model sees context, not just a historical average.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726877"/>
            <a:ext cx="369312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13B4B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MODEL LANDSCAPE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86532"/>
            <a:ext cx="3083542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LightGBM was the final choice.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585343"/>
            <a:ext cx="3083542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7400" dirty="0">
                <a:solidFill>
                  <a:srgbClr val="13B4B9"/>
                </a:solidFill>
                <a:latin typeface="Bellefair" pitchFamily="34" charset="0"/>
                <a:ea typeface="Bellefair" pitchFamily="34" charset="-122"/>
                <a:cs typeface="Bellefair" pitchFamily="34" charset="-120"/>
              </a:rPr>
              <a:t>19% better.</a:t>
            </a:r>
            <a:endParaRPr lang="en-US" sz="7400" dirty="0"/>
          </a:p>
        </p:txBody>
      </p:sp>
      <p:sp>
        <p:nvSpPr>
          <p:cNvPr id="5" name="Text 3"/>
          <p:cNvSpPr/>
          <p:nvPr/>
        </p:nvSpPr>
        <p:spPr>
          <a:xfrm>
            <a:off x="609585" y="4728071"/>
            <a:ext cx="3083542" cy="1402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Poisson objective · 36 forecast-time features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Selection: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compare simple baselines, classical models, and tree ensembles under chronological evaluation.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9801" y="0"/>
            <a:ext cx="7431894" cy="6858000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64594" y="304800"/>
          <a:ext cx="6822309" cy="914400"/>
        </p:xfrm>
        <a:graphic>
          <a:graphicData uri="http://schemas.openxmlformats.org/drawingml/2006/table">
            <a:tbl>
              <a:tblPr/>
              <a:tblGrid>
                <a:gridCol w="2886400"/>
                <a:gridCol w="1022225"/>
                <a:gridCol w="1048518"/>
                <a:gridCol w="1865167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Model family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Role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Type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Outcome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Mean predictor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Baseline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Naive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Reference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Moving average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Baseline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Naive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Reference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Seasonal naive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Baseline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Naive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RMSE 9.94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Ridge regression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Classical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Linear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Compared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ARIMA per zone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Classical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Statistical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Compared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Random forest · gradient boosting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Tree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Ensemble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Compared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HistGradientBoosting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Tree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Ensemble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Compared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Final tuned LightGBM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Winner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Boosted tree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Red Hat Text" pitchFamily="34" charset="0"/>
                          <a:ea typeface="Red Hat Text" pitchFamily="34" charset="-122"/>
                          <a:cs typeface="Red Hat Text" pitchFamily="34" charset="-120"/>
                        </a:rPr>
                        <a:t>RMSE 8.09 · MAE 5.60</a:t>
                      </a:r>
                      <a:endParaRPr lang="en-US" sz="1400" dirty="0">
                        <a:latin typeface="Red Hat Text" charset="0"/>
                        <a:ea typeface="Red Hat Text" charset="0"/>
                        <a:cs typeface="Red Hat Text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696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13805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D7D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EVALUATION · ABLATION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973461"/>
            <a:ext cx="4648084" cy="1679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200" b="1" dirty="0">
                <a:solidFill>
                  <a:srgbClr val="0B1E26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The gain held under rolling-origin validation.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09585" y="3831233"/>
            <a:ext cx="4648084" cy="1312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Held-out test: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RMSE 8.09 and MAE 5.60.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Rolling origin: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RMSE 8.68 ± 0.80 across five 14-day folds.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Baseline: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seasonal naive RMSE 9.94, so the final model improves 19%.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0B1E26"/>
          </a:solidFill>
          <a:ln/>
        </p:spPr>
      </p:sp>
      <p:sp>
        <p:nvSpPr>
          <p:cNvPr id="6" name="Text 4"/>
          <p:cNvSpPr/>
          <p:nvPr/>
        </p:nvSpPr>
        <p:spPr>
          <a:xfrm>
            <a:off x="6629234" y="304800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ABLATION RMSE CHANGE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629234" y="650180"/>
            <a:ext cx="5562461" cy="604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3400" dirty="0">
                <a:solidFill>
                  <a:srgbClr val="13B4B9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−0.88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629234" y="1413371"/>
            <a:ext cx="55624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weather only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29234" y="1820962"/>
            <a:ext cx="5562461" cy="604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−0.35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629234" y="2584152"/>
            <a:ext cx="55624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events only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234" y="2991743"/>
            <a:ext cx="5562461" cy="604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−1.16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629234" y="3754934"/>
            <a:ext cx="55624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weather + events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629234" y="4206974"/>
            <a:ext cx="5257668" cy="1905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234" y="4429224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Both together lower RMSE by 11.7%; weather by 8.9%; events by 3.5%.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0D7D81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FROM FORECAST TO ACTION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4648084" cy="1720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00" b="1" dirty="0">
                <a:solidFill>
                  <a:srgbClr val="0B1E26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Forecasts become staffing and fare decisions.</a:t>
            </a:r>
            <a:endParaRPr lang="en-US" sz="4300" dirty="0"/>
          </a:p>
        </p:txBody>
      </p:sp>
      <p:sp>
        <p:nvSpPr>
          <p:cNvPr id="4" name="Shape 2"/>
          <p:cNvSpPr/>
          <p:nvPr/>
        </p:nvSpPr>
        <p:spPr>
          <a:xfrm>
            <a:off x="609585" y="2811661"/>
            <a:ext cx="1533685" cy="38100"/>
          </a:xfrm>
          <a:prstGeom prst="roundRect">
            <a:avLst>
              <a:gd name="adj" fmla="val 49999"/>
            </a:avLst>
          </a:prstGeom>
          <a:solidFill>
            <a:srgbClr val="0D7D81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052961"/>
            <a:ext cx="4648084" cy="2059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Local Streamlit app.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Run the workflow without a cloud dependency and inspect forecasts by zone and hour.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Operational outputs.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Plan driver coverage, anticipate rain and event peaks, and monitor exceptions before demand moves.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Uncertainty is visible.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Every forecast includes prediction intervals rather than a single point estimate.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24442" y="0"/>
            <a:ext cx="5867253" cy="6858000"/>
          </a:xfrm>
          <a:prstGeom prst="rect">
            <a:avLst/>
          </a:prstGeom>
          <a:solidFill>
            <a:srgbClr val="0D7D81"/>
          </a:solidFill>
          <a:ln/>
        </p:spPr>
      </p:sp>
      <p:sp>
        <p:nvSpPr>
          <p:cNvPr id="7" name="Text 5"/>
          <p:cNvSpPr/>
          <p:nvPr/>
        </p:nvSpPr>
        <p:spPr>
          <a:xfrm>
            <a:off x="6629234" y="304800"/>
            <a:ext cx="556246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DELIVERY SNAPSHOT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629234" y="650180"/>
            <a:ext cx="2552636" cy="8450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629234" y="802580"/>
            <a:ext cx="255263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4,032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234" y="1156196"/>
            <a:ext cx="255263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forecasts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334266" y="650180"/>
            <a:ext cx="2552636" cy="8450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9334266" y="802580"/>
            <a:ext cx="255263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79.8%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34266" y="1156196"/>
            <a:ext cx="255263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80% interval coverage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29234" y="1647627"/>
            <a:ext cx="5257668" cy="8450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234" y="1800027"/>
            <a:ext cx="525766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B1E26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89.6%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234" y="2153642"/>
            <a:ext cx="525766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0B1E26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90% interval coverage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29234" y="2721273"/>
            <a:ext cx="556246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A decision surface for operations—not just a model score.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730375"/>
            <a:ext cx="5648878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13B4B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FINAL DESTINATION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990030"/>
            <a:ext cx="5039293" cy="1146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Built to run again, not just once.</a:t>
            </a:r>
            <a:endParaRPr lang="en-US" sz="4300" dirty="0"/>
          </a:p>
        </p:txBody>
      </p:sp>
      <p:sp>
        <p:nvSpPr>
          <p:cNvPr id="4" name="Text 2"/>
          <p:cNvSpPr/>
          <p:nvPr/>
        </p:nvSpPr>
        <p:spPr>
          <a:xfrm>
            <a:off x="609585" y="3316982"/>
            <a:ext cx="5039293" cy="1810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Deliverables: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12 figures, 14 analysis tasks, 4,032 forecasts, and a local Streamlit app.</a:t>
            </a:r>
            <a:endParaRPr lang="en-US" sz="1400" dirty="0"/>
          </a:p>
          <a:p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Reproducibility:</a:t>
            </a:r>
            <a:pPr algn="l" indent="0" marL="0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pinned requirements, relative paths, random_state 42, and documented data preparation.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Guardrails: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 chronological validation, no test leakage, and explicit checks for the 28 data problems.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15552" y="0"/>
            <a:ext cx="5476143" cy="6858000"/>
          </a:xfrm>
          <a:prstGeom prst="rect">
            <a:avLst/>
          </a:prstGeom>
          <a:solidFill>
            <a:srgbClr val="0D7D81"/>
          </a:solidFill>
          <a:ln/>
        </p:spPr>
      </p:sp>
      <p:sp>
        <p:nvSpPr>
          <p:cNvPr id="6" name="Text 4"/>
          <p:cNvSpPr/>
          <p:nvPr/>
        </p:nvSpPr>
        <p:spPr>
          <a:xfrm>
            <a:off x="7071143" y="2261295"/>
            <a:ext cx="512055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WHAT SUCCESS LOOKS LIKE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071143" y="2606675"/>
            <a:ext cx="476496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Dependable forecasts</a:t>
            </a:r>
            <a:endParaRPr lang="en-US" sz="30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Red Hat Text Bold" pitchFamily="34" charset="0"/>
                <a:ea typeface="Red Hat Text Bold" pitchFamily="34" charset="-122"/>
                <a:cs typeface="Red Hat Text Bold" pitchFamily="34" charset="-120"/>
              </a:rPr>
              <a:t>for 12 Addis zones.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071143" y="3876675"/>
            <a:ext cx="4764960" cy="19050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071143" y="4098925"/>
            <a:ext cx="476496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ed Hat Text" pitchFamily="34" charset="0"/>
                <a:ea typeface="Red Hat Text" pitchFamily="34" charset="-122"/>
                <a:cs typeface="Red Hat Text" pitchFamily="34" charset="-120"/>
              </a:rPr>
              <a:t>Synthetic hackathon data, handled transparently. A clear path from raw exports to staffing, fares, and monitoring.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2026-10-06T14:03:49Z</dcterms:created>
  <dcterms:modified xsi:type="dcterms:W3CDTF">2026-10-06T14:03:49Z</dcterms:modified>
</cp:coreProperties>
</file>